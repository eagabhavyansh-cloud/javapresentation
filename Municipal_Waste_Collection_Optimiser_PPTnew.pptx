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58" r:id="rId5"/>
    <p:sldId id="259" r:id="rId6"/>
    <p:sldId id="260" r:id="rId7"/>
    <p:sldId id="263" r:id="rId16"/>
    <p:sldId id="264" r:id="rId1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0BE3C-B0B0-4CFB-816B-712D973A64E0}" v="3" dt="2026-09-15T10:05:24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Relationship Id="rId16" Type="http://schemas.openxmlformats.org/officeDocument/2006/relationships/slide" Target="slides/slide8.xml"/><Relationship Id="rId17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SP MADHURI" userId="d5baabbced009fe2" providerId="LiveId" clId="{5C1935DC-7BAA-4BFD-8AE9-FAF66D151093}"/>
    <pc:docChg chg="undo custSel addSld modSld sldOrd">
      <pc:chgData name="TSP MADHURI" userId="d5baabbced009fe2" providerId="LiveId" clId="{5C1935DC-7BAA-4BFD-8AE9-FAF66D151093}" dt="2026-09-15T10:01:58.231" v="188" actId="22"/>
      <pc:docMkLst>
        <pc:docMk/>
      </pc:docMkLst>
      <pc:sldChg chg="addSp delSp modSp mod">
        <pc:chgData name="TSP MADHURI" userId="d5baabbced009fe2" providerId="LiveId" clId="{5C1935DC-7BAA-4BFD-8AE9-FAF66D151093}" dt="2026-09-15T10:01:58.231" v="188" actId="22"/>
        <pc:sldMkLst>
          <pc:docMk/>
          <pc:sldMk cId="1570750093" sldId="256"/>
        </pc:sldMkLst>
        <pc:spChg chg="mod">
          <ac:chgData name="TSP MADHURI" userId="d5baabbced009fe2" providerId="LiveId" clId="{5C1935DC-7BAA-4BFD-8AE9-FAF66D151093}" dt="2026-09-15T09:58:58.254" v="62" actId="20577"/>
          <ac:spMkLst>
            <pc:docMk/>
            <pc:sldMk cId="1570750093" sldId="256"/>
            <ac:spMk id="2" creationId="{81C0CCFF-527E-4AC9-A45F-A8196F49E0C3}"/>
          </ac:spMkLst>
        </pc:spChg>
        <pc:spChg chg="mod">
          <ac:chgData name="TSP MADHURI" userId="d5baabbced009fe2" providerId="LiveId" clId="{5C1935DC-7BAA-4BFD-8AE9-FAF66D151093}" dt="2026-09-15T09:59:08.667" v="65"/>
          <ac:spMkLst>
            <pc:docMk/>
            <pc:sldMk cId="1570750093" sldId="256"/>
            <ac:spMk id="3" creationId="{A452AC95-AA7D-A76A-037F-6B2DB5A27E48}"/>
          </ac:spMkLst>
        </pc:spChg>
        <pc:spChg chg="add del">
          <ac:chgData name="TSP MADHURI" userId="d5baabbced009fe2" providerId="LiveId" clId="{5C1935DC-7BAA-4BFD-8AE9-FAF66D151093}" dt="2026-09-15T09:58:23.995" v="1" actId="22"/>
          <ac:spMkLst>
            <pc:docMk/>
            <pc:sldMk cId="1570750093" sldId="256"/>
            <ac:spMk id="5" creationId="{16E58A68-9A46-73D5-6ACA-6EBDA713DE38}"/>
          </ac:spMkLst>
        </pc:spChg>
        <pc:spChg chg="add del mod">
          <ac:chgData name="TSP MADHURI" userId="d5baabbced009fe2" providerId="LiveId" clId="{5C1935DC-7BAA-4BFD-8AE9-FAF66D151093}" dt="2026-09-15T10:01:58.231" v="188" actId="22"/>
          <ac:spMkLst>
            <pc:docMk/>
            <pc:sldMk cId="1570750093" sldId="256"/>
            <ac:spMk id="7" creationId="{195ACB3F-808A-0A7A-B8BD-A70C42ECC1E5}"/>
          </ac:spMkLst>
        </pc:spChg>
      </pc:sldChg>
      <pc:sldChg chg="modSp new mod">
        <pc:chgData name="TSP MADHURI" userId="d5baabbced009fe2" providerId="LiveId" clId="{5C1935DC-7BAA-4BFD-8AE9-FAF66D151093}" dt="2026-09-15T09:59:16.247" v="74" actId="20577"/>
        <pc:sldMkLst>
          <pc:docMk/>
          <pc:sldMk cId="676338040" sldId="257"/>
        </pc:sldMkLst>
        <pc:spChg chg="mod">
          <ac:chgData name="TSP MADHURI" userId="d5baabbced009fe2" providerId="LiveId" clId="{5C1935DC-7BAA-4BFD-8AE9-FAF66D151093}" dt="2026-09-15T09:59:16.247" v="74" actId="20577"/>
          <ac:spMkLst>
            <pc:docMk/>
            <pc:sldMk cId="676338040" sldId="257"/>
            <ac:spMk id="2" creationId="{EDE71AF3-F02C-0F4C-0929-57F8B753540D}"/>
          </ac:spMkLst>
        </pc:spChg>
      </pc:sldChg>
      <pc:sldChg chg="modSp new mod">
        <pc:chgData name="TSP MADHURI" userId="d5baabbced009fe2" providerId="LiveId" clId="{5C1935DC-7BAA-4BFD-8AE9-FAF66D151093}" dt="2026-09-15T09:59:25.529" v="86" actId="20577"/>
        <pc:sldMkLst>
          <pc:docMk/>
          <pc:sldMk cId="4104242747" sldId="258"/>
        </pc:sldMkLst>
        <pc:spChg chg="mod">
          <ac:chgData name="TSP MADHURI" userId="d5baabbced009fe2" providerId="LiveId" clId="{5C1935DC-7BAA-4BFD-8AE9-FAF66D151093}" dt="2026-09-15T09:59:25.529" v="86" actId="20577"/>
          <ac:spMkLst>
            <pc:docMk/>
            <pc:sldMk cId="4104242747" sldId="258"/>
            <ac:spMk id="2" creationId="{8E154CC5-4FD5-611A-4481-E878E281E2CD}"/>
          </ac:spMkLst>
        </pc:spChg>
      </pc:sldChg>
      <pc:sldChg chg="modSp new mod">
        <pc:chgData name="TSP MADHURI" userId="d5baabbced009fe2" providerId="LiveId" clId="{5C1935DC-7BAA-4BFD-8AE9-FAF66D151093}" dt="2026-09-15T09:59:36.234" v="101" actId="20577"/>
        <pc:sldMkLst>
          <pc:docMk/>
          <pc:sldMk cId="4178111765" sldId="259"/>
        </pc:sldMkLst>
        <pc:spChg chg="mod">
          <ac:chgData name="TSP MADHURI" userId="d5baabbced009fe2" providerId="LiveId" clId="{5C1935DC-7BAA-4BFD-8AE9-FAF66D151093}" dt="2026-09-15T09:59:36.234" v="101" actId="20577"/>
          <ac:spMkLst>
            <pc:docMk/>
            <pc:sldMk cId="4178111765" sldId="259"/>
            <ac:spMk id="2" creationId="{3954FDF4-A21D-11D6-CA7A-382058E2F499}"/>
          </ac:spMkLst>
        </pc:spChg>
      </pc:sldChg>
      <pc:sldChg chg="modSp new mod">
        <pc:chgData name="TSP MADHURI" userId="d5baabbced009fe2" providerId="LiveId" clId="{5C1935DC-7BAA-4BFD-8AE9-FAF66D151093}" dt="2026-09-15T09:59:46.562" v="113" actId="20577"/>
        <pc:sldMkLst>
          <pc:docMk/>
          <pc:sldMk cId="1869875426" sldId="260"/>
        </pc:sldMkLst>
        <pc:spChg chg="mod">
          <ac:chgData name="TSP MADHURI" userId="d5baabbced009fe2" providerId="LiveId" clId="{5C1935DC-7BAA-4BFD-8AE9-FAF66D151093}" dt="2026-09-15T09:59:46.562" v="113" actId="20577"/>
          <ac:spMkLst>
            <pc:docMk/>
            <pc:sldMk cId="1869875426" sldId="260"/>
            <ac:spMk id="2" creationId="{C73BDDFB-DFEC-7A21-D889-17965A225820}"/>
          </ac:spMkLst>
        </pc:spChg>
      </pc:sldChg>
      <pc:sldChg chg="modSp new mod ord">
        <pc:chgData name="TSP MADHURI" userId="d5baabbced009fe2" providerId="LiveId" clId="{5C1935DC-7BAA-4BFD-8AE9-FAF66D151093}" dt="2026-09-15T10:00:14.865" v="149"/>
        <pc:sldMkLst>
          <pc:docMk/>
          <pc:sldMk cId="3980090555" sldId="261"/>
        </pc:sldMkLst>
        <pc:spChg chg="mod">
          <ac:chgData name="TSP MADHURI" userId="d5baabbced009fe2" providerId="LiveId" clId="{5C1935DC-7BAA-4BFD-8AE9-FAF66D151093}" dt="2026-09-15T10:00:08.859" v="147" actId="20577"/>
          <ac:spMkLst>
            <pc:docMk/>
            <pc:sldMk cId="3980090555" sldId="261"/>
            <ac:spMk id="2" creationId="{54D4AC2B-1702-695F-E0B5-9F6550F04B7D}"/>
          </ac:spMkLst>
        </pc:spChg>
      </pc:sldChg>
      <pc:sldChg chg="modSp new mod">
        <pc:chgData name="TSP MADHURI" userId="d5baabbced009fe2" providerId="LiveId" clId="{5C1935DC-7BAA-4BFD-8AE9-FAF66D151093}" dt="2026-09-15T10:00:56.631" v="184" actId="20577"/>
        <pc:sldMkLst>
          <pc:docMk/>
          <pc:sldMk cId="1396777043" sldId="262"/>
        </pc:sldMkLst>
        <pc:spChg chg="mod">
          <ac:chgData name="TSP MADHURI" userId="d5baabbced009fe2" providerId="LiveId" clId="{5C1935DC-7BAA-4BFD-8AE9-FAF66D151093}" dt="2026-09-15T10:00:56.631" v="184" actId="20577"/>
          <ac:spMkLst>
            <pc:docMk/>
            <pc:sldMk cId="1396777043" sldId="262"/>
            <ac:spMk id="2" creationId="{BDCEF2EB-DC8E-A39F-8C45-4CB81854799A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1F2A22"/>
                </a:solidFill>
              </a:rPr>
              <a:t>Area ranking: weekly waste (kg)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Weekly waste (kg)</c:v>
                </c:pt>
              </c:strCache>
            </c:strRef>
          </c:tx>
          <c:spPr>
            <a:solidFill>
              <a:srgbClr val="97BC62"/>
            </a:solidFill>
          </c:spPr>
          <c:dPt>
            <c:idx val="0"/>
            <c:spPr>
              <a:solidFill>
                <a:srgbClr val="2C5F2D"/>
              </a:solidFill>
            </c:spPr>
          </c:dPt>
          <c:cat>
            <c:strRef>
              <c:f>Sheet1!$A$2:$A$6</c:f>
              <c:strCache>
                <c:ptCount val="5"/>
                <c:pt idx="0">
                  <c:v>Kukatpally</c:v>
                </c:pt>
                <c:pt idx="1">
                  <c:v>Bachupally</c:v>
                </c:pt>
                <c:pt idx="2">
                  <c:v>Miyapur</c:v>
                </c:pt>
                <c:pt idx="3">
                  <c:v>Pragathi Nagar</c:v>
                </c:pt>
                <c:pt idx="4">
                  <c:v>Nizampet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4100</c:v>
                </c:pt>
                <c:pt idx="1">
                  <c:v>3310</c:v>
                </c:pt>
                <c:pt idx="2">
                  <c:v>2410</c:v>
                </c:pt>
                <c:pt idx="3">
                  <c:v>2020</c:v>
                </c:pt>
                <c:pt idx="4">
                  <c:v>1170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1F2A2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solidFill>
                  <a:srgbClr val="1F2A22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7AFC0-00B8-4117-895C-3E834B17103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476CA-421D-4B57-8942-5762D93F1A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4164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5F3B8-DDEB-3931-BD30-FCDF92768B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0E52B7-3612-C42C-E3C4-1568700E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2A539-9977-5E0E-CDC1-067BB186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549C3-E12B-4CC2-9FA1-D4C0643B7241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C91C38-BEF3-AA2E-ACFE-DCF1543BE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CB7FA-8196-F586-E960-B5BAE429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B3F1FD-0147-797C-0ED6-E694A2BD62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5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59C4-DC4A-CF70-25D2-F39535A1F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6C27E-0A06-D409-8884-852E74A29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7AC31F-7BFD-CA38-00A7-A2FD01A09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E2E10-B9C9-4696-8C2C-567691D9BBFD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415AD4-5B3F-78FD-DE66-C3F50AC63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0549F-8592-A2F0-A7A6-A1C45E9E6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81CCB4-DDFA-058A-AE03-5A3CFCA9F8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5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AB08-E23E-771E-1FDE-DC785159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36FC1-1DB6-A8A4-C315-834C3FFCFE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65D3F-93C4-BE6A-B0D8-5AFF3E69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BF378-8F16-492D-87B3-963C20ACF441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2169B-9903-41C3-CC1A-A773A925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CC6B5-6988-9DF9-8223-C5EB677C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DABBD-F85F-360C-A546-D5E0B92597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256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8FF-7E75-1B89-7C11-7B6C180B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E0077-B676-7850-AAD4-77689FB5B4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118E-9650-EED0-1592-D4AD00CF46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BDD-D86C-6A53-CEF7-1AEC9AB1A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9781E-9150-4561-9F7C-01394C55C5AE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B15FF2-A4C5-135F-9FA1-A00A6BF9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FB8AA-FC6D-B278-7FFF-C52EF4307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3064E1C-D746-419C-5FE6-033B95CAC3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26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C900-8F42-8A20-E378-434465ED2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DB5D6-6D80-913C-77A3-83E1C2757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D7E712-FB4A-DBE7-7EE8-B34465C75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C7C92-E667-0F30-6C26-267F10CBC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31715A-AF86-785C-73F2-00FF9D5D32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1D6D5-269C-31AC-CC40-917E0E24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12896-961F-4F7A-B2DD-D0EFF57BA027}" type="datetime1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0DFF97-DB90-A3DC-1A5F-E041ABA4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DFEC1F-4C0D-B461-B76D-FAFE7A86B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D765FD-6DB7-1155-27BC-BD0DB45299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33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9FB57-0CBB-0AA3-9BF0-2ED233797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2CE64-C359-3445-7AB9-29DE8577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51132-6BA4-40BC-AB03-D6B9C4F193FC}" type="datetime1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63F73F-0420-C605-3EFF-74CBBE1B7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6EE44D-529C-1AC9-123B-7EBF53FA6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6640D-01A3-9B0C-80EF-F10DE4220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80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79728-5FED-202E-6651-A7474C32A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85D5E-B9E5-4C7E-88B1-43A66A7C3488}" type="datetime1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6D777-ECC4-1DAB-81FF-7D7AF3FF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56A1D-0096-D4B4-2B11-1CDFE3317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0B416-1EF4-3CD6-8E26-DC636E7B37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129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5010-2418-091A-429D-37E400ABA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91DC8-3F06-BF0E-8109-8C1FEDEAD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544A7E-4423-60E2-E6E9-AAF09976D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3B07B-D8E2-C0AA-F7E4-545DF979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BE2A2-8283-469E-B4A1-D6877668ECFE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B3DF0-CC05-0B05-24D9-6663B5E1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AB53E2-0205-A987-5D45-0DFC51D89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6F4A6A-FE20-C82E-95DD-FA2A5FCB0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27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7E51-2E25-5BFC-2696-794A224B6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F9DC63-25C2-8B4F-3683-6B0A9BC756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EBA80-D1E6-9786-229E-B9B70D9B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DED29-F47E-2534-AFB4-003A8091A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0A723-EDD4-4822-84BE-4B7F697B4E56}" type="datetime1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6DE89-3F60-1B9B-0597-F389CAA72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B78F6-7EC0-BF15-5CA1-F0159D79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256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8785-1FEB-0757-FEC8-6AA1CB86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94473-1718-0D76-22B7-33E82D611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9B1E2-29EC-2F2E-B362-55E80C4D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8764-2CC6-431B-B501-1DF197EE73CC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D9E9-31F7-01F5-C19A-438C40773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E1B4F-5C80-EFB0-BA9F-8F17B844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2412BD-D800-391F-9FB6-159E83E747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5" y="-164593"/>
            <a:ext cx="1215279" cy="11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43F02-0084-480F-2BA3-75A1C0102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22D9D-B106-6765-76CF-C9843EC19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62E0-081B-BE3A-F92B-73DE583ED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EEFFA-3959-41FE-A774-B9B27FD8983C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9D4DC-613B-8105-F661-A37BB2AD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46AAE-21DC-2AE1-CF07-91F73A4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3544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48038-F901-EAD1-D5DB-03603E896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E2A14-F9FA-9B0B-5AA7-D785E09BA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56813-B660-C26F-CFEF-AF22C547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F4BF4-0D93-4F1E-82BB-778F1EDDD45F}" type="datetime1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697EB-16D9-74E1-1448-0CDC280711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42DC9-4178-3222-F3F2-C5EC792CA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12AB6-14AF-4351-87AD-D420B0527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8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0CCFF-527E-4AC9-A45F-A8196F49E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" y="1325880"/>
            <a:ext cx="6583680" cy="1600200"/>
          </a:xfrm>
        </p:spPr>
        <p:txBody>
          <a:bodyPr anchor="t"/>
          <a:lstStyle/>
          <a:p>
            <a:pPr algn="l"/>
            <a:r>
              <a:rPr lang="en-IN" dirty="0" sz="4200" b="1">
                <a:solidFill>
                  <a:srgbClr val="2C5F2D"/>
                </a:solidFill>
                <a:latin typeface="Calibri"/>
              </a:rPr>
              <a:t>Municipal Waste Collection Optimiser</a:t>
            </a:r>
            <a:br>
              <a:rPr lang="en-IN" dirty="0"/>
            </a:br>
            <a:r>
              <a:rPr lang="en-IN" dirty="0" sz="4200" b="1">
                <a:solidFill>
                  <a:srgbClr val="2C5F2D"/>
                </a:solidFill>
                <a:latin typeface="Calibri"/>
              </a:rPr>
              <a:t/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7EDCEF-417A-3750-BB67-C2592E7FA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1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841248" y="30632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1">
                <a:solidFill>
                  <a:srgbClr val="5F6B62"/>
                </a:solidFill>
                <a:latin typeface="Calibri"/>
              </a:rPr>
              <a:t>Smarter pickups for a cleaner city, using 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886200"/>
            <a:ext cx="5897880" cy="1417320"/>
          </a:xfrm>
          <a:prstGeom prst="roundRect">
            <a:avLst>
              <a:gd name="adj" fmla="val 10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69848" y="4023360"/>
            <a:ext cx="1783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2A22"/>
                </a:solidFill>
                <a:latin typeface="Calibri"/>
              </a:rPr>
              <a:t>E. Bhavyansh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F6B62"/>
                </a:solidFill>
                <a:latin typeface="Calibri"/>
              </a:rPr>
              <a:t>2620030142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4023360"/>
            <a:ext cx="1783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2A22"/>
                </a:solidFill>
                <a:latin typeface="Calibri"/>
              </a:rPr>
              <a:t>Gattu P Tridhama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F6B62"/>
                </a:solidFill>
                <a:latin typeface="Calibri"/>
              </a:rPr>
              <a:t>2620030337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023360"/>
            <a:ext cx="1783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F2A22"/>
                </a:solidFill>
                <a:latin typeface="Calibri"/>
              </a:rPr>
              <a:t>Yashwanth Rathan</a:t>
            </a:r>
          </a:p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5F6B62"/>
                </a:solidFill>
                <a:latin typeface="Calibri"/>
              </a:rPr>
              <a:t>2620030622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8006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C5F2D"/>
                </a:solidFill>
                <a:latin typeface="Calibri"/>
              </a:rPr>
              <a:t>Team No: ____</a:t>
            </a:r>
            <a:r>
              <a:rPr sz="1400" b="0" i="0">
                <a:solidFill>
                  <a:srgbClr val="5F6B62"/>
                </a:solidFill>
                <a:latin typeface="Calibri"/>
              </a:rPr>
              <a:t>     Y26 Section 6  |  PSPJ (Java) PBL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097280"/>
            <a:ext cx="3566160" cy="457200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ecycl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737360"/>
            <a:ext cx="1737360" cy="17373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0" y="3977639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4709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D5E6C4"/>
                </a:solidFill>
                <a:latin typeface="Calibri"/>
              </a:rPr>
              <a:t>areas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977639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709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D5E6C4"/>
                </a:solidFill>
                <a:latin typeface="Calibri"/>
              </a:rPr>
              <a:t>days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3977639"/>
            <a:ext cx="1097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470916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D5E6C4"/>
                </a:solidFill>
                <a:latin typeface="Calibri"/>
              </a:rPr>
              <a:t>Java app</a:t>
            </a:r>
          </a:p>
        </p:txBody>
      </p:sp>
    </p:spTree>
    <p:extLst>
      <p:ext uri="{BB962C8B-B14F-4D97-AF65-F5344CB8AC3E}">
        <p14:creationId xmlns:p14="http://schemas.microsoft.com/office/powerpoint/2010/main" val="157075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1AF3-F02C-0F4C-0929-57F8B7535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b="1" sz="3600">
                <a:solidFill>
                  <a:srgbClr val="2C5F2D"/>
                </a:solidFill>
                <a:latin typeface="Calibri"/>
              </a:rPr>
              <a:t>Abstract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CFF38-D9B5-1B3E-0EC5-08CA2C213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2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15568" y="2103120"/>
            <a:ext cx="685800" cy="685800"/>
          </a:xfrm>
          <a:prstGeom prst="ellipse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ar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267712"/>
            <a:ext cx="356616" cy="3566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29968" y="2057400"/>
            <a:ext cx="37033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2A22"/>
                </a:solidFill>
                <a:latin typeface="Calibri"/>
              </a:rPr>
              <a:t>The problem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22"/>
                </a:solidFill>
                <a:latin typeface="Calibri"/>
              </a:rPr>
              <a:t>Trucks visit every area every day on a fixed schedule. Some bins are nearly empty while others overflow.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8308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556248" y="2103120"/>
            <a:ext cx="685800" cy="6858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267712"/>
            <a:ext cx="356616" cy="356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70648" y="2057400"/>
            <a:ext cx="37033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2A22"/>
                </a:solidFill>
                <a:latin typeface="Calibri"/>
              </a:rPr>
              <a:t>Our solution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22"/>
                </a:solidFill>
                <a:latin typeface="Calibri"/>
              </a:rPr>
              <a:t>A console Java app that records the waste (kg) of 5 areas for 7 days in a 2D array.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93192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115568" y="4251959"/>
            <a:ext cx="685800" cy="6858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416551"/>
            <a:ext cx="356616" cy="35661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29968" y="4206240"/>
            <a:ext cx="37033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2A22"/>
                </a:solidFill>
                <a:latin typeface="Calibri"/>
              </a:rPr>
              <a:t>What it shows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22"/>
                </a:solidFill>
                <a:latin typeface="Calibri"/>
              </a:rPr>
              <a:t>Bin status (LOW / HALF / FULL / OVERFLOW), weekly totals, averages, cost and the busiest day.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1928" y="393192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556248" y="4251959"/>
            <a:ext cx="685800" cy="6858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rout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840" y="4416551"/>
            <a:ext cx="356616" cy="35661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70648" y="4206240"/>
            <a:ext cx="370332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1F2A22"/>
                </a:solidFill>
                <a:latin typeface="Calibri"/>
              </a:rPr>
              <a:t>What it plans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22"/>
                </a:solidFill>
                <a:latin typeface="Calibri"/>
              </a:rPr>
              <a:t>Ranks areas, searches by name and builds a daily plan that skips low bins and counts trucks.</a:t>
            </a:r>
          </a:p>
        </p:txBody>
      </p:sp>
    </p:spTree>
    <p:extLst>
      <p:ext uri="{BB962C8B-B14F-4D97-AF65-F5344CB8AC3E}">
        <p14:creationId xmlns:p14="http://schemas.microsoft.com/office/powerpoint/2010/main" val="676338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AC2B-1702-695F-E0B5-9F6550F04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b="1" sz="3600">
                <a:solidFill>
                  <a:srgbClr val="2C5F2D"/>
                </a:solidFill>
                <a:latin typeface="Calibri"/>
              </a:rPr>
              <a:t>Understanding Problem Statement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61277-3D40-ACA2-AEC9-E9A0E9DC1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3</a:t>
            </a:fld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Goal: </a:t>
            </a:r>
            <a:r>
              <a:rPr sz="1800" b="0" i="0">
                <a:solidFill>
                  <a:srgbClr val="1F2A22"/>
                </a:solidFill>
                <a:latin typeface="Calibri"/>
              </a:rPr>
              <a:t>use each area's daily waste data to decide where trucks are really needed.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40280"/>
            <a:ext cx="2468880" cy="1325880"/>
          </a:xfrm>
          <a:prstGeom prst="roundRect">
            <a:avLst>
              <a:gd name="adj" fmla="val 10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ap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487168"/>
            <a:ext cx="411480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72768" y="233172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0175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62"/>
                </a:solidFill>
                <a:latin typeface="Calibri"/>
              </a:rPr>
              <a:t>areas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2240280"/>
            <a:ext cx="2468880" cy="1325880"/>
          </a:xfrm>
          <a:prstGeom prst="roundRect">
            <a:avLst>
              <a:gd name="adj" fmla="val 10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alendar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39" y="2487168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51960" y="233172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0175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62"/>
                </a:solidFill>
                <a:latin typeface="Calibri"/>
              </a:rPr>
              <a:t>days a week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2240280"/>
            <a:ext cx="2468880" cy="1325880"/>
          </a:xfrm>
          <a:prstGeom prst="roundRect">
            <a:avLst>
              <a:gd name="adj" fmla="val 10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trash_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487168"/>
            <a:ext cx="41148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31152" y="233172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500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0175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62"/>
                </a:solidFill>
                <a:latin typeface="Calibri"/>
              </a:rPr>
              <a:t>bin capacity / 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78824" y="2240280"/>
            <a:ext cx="2468880" cy="1325880"/>
          </a:xfrm>
          <a:prstGeom prst="roundRect">
            <a:avLst>
              <a:gd name="adj" fmla="val 10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truck_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2487168"/>
            <a:ext cx="411480" cy="4114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610344" y="2331720"/>
            <a:ext cx="16459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C5F2D"/>
                </a:solidFill>
                <a:latin typeface="Calibri"/>
              </a:rPr>
              <a:t>1000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7424" y="3017520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5F6B62"/>
                </a:solidFill>
                <a:latin typeface="Calibri"/>
              </a:rPr>
              <a:t>per truck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3931920"/>
            <a:ext cx="3063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69848" y="4114800"/>
            <a:ext cx="566928" cy="56692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keyboar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5910" y="4250862"/>
            <a:ext cx="294802" cy="29480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73936" y="416052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463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22"/>
                </a:solidFill>
                <a:latin typeface="Calibri"/>
              </a:rPr>
              <a:t>Area, day number and waste collected (kg)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032504" y="4709160"/>
            <a:ext cx="402336" cy="36576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62856" y="3931920"/>
            <a:ext cx="3063240" cy="1920240"/>
          </a:xfrm>
          <a:prstGeom prst="roundRect">
            <a:avLst>
              <a:gd name="adj" fmla="val 8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4791456" y="4114800"/>
            <a:ext cx="566928" cy="56692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ogs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7518" y="4250862"/>
            <a:ext cx="294802" cy="29480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495544" y="416052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48463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Fill %, bin status, totals, averages, ranking, trucks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754112" y="4709160"/>
            <a:ext cx="402336" cy="36576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84464" y="3931920"/>
            <a:ext cx="306324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513064" y="4114800"/>
            <a:ext cx="566928" cy="56692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l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9126" y="4250862"/>
            <a:ext cx="294802" cy="29480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17152" y="416052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C5F2D"/>
                </a:solidFill>
                <a:latin typeface="Calibri"/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4846320"/>
            <a:ext cx="2606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A22"/>
                </a:solidFill>
                <a:latin typeface="Calibri"/>
              </a:rPr>
              <a:t>Weekly report, status table, ranking, collection plan</a:t>
            </a:r>
          </a:p>
        </p:txBody>
      </p:sp>
    </p:spTree>
    <p:extLst>
      <p:ext uri="{BB962C8B-B14F-4D97-AF65-F5344CB8AC3E}">
        <p14:creationId xmlns:p14="http://schemas.microsoft.com/office/powerpoint/2010/main" val="3980090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4CC5-4FD5-611A-4481-E878E281E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b="1" sz="3600">
                <a:solidFill>
                  <a:srgbClr val="2C5F2D"/>
                </a:solidFill>
                <a:latin typeface="Calibri"/>
              </a:rPr>
              <a:t>CO 1 Topics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33CBD-9819-BA1C-8720-D89215B1A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4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10497312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1700784"/>
            <a:ext cx="1013155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C5F2D"/>
                </a:solidFill>
                <a:latin typeface="Calibri"/>
              </a:rPr>
              <a:t>CO1  </a:t>
            </a:r>
            <a:r>
              <a:rPr sz="1350" b="0" i="1">
                <a:solidFill>
                  <a:srgbClr val="5F6B62"/>
                </a:solidFill>
                <a:latin typeface="Calibri"/>
              </a:rPr>
              <a:t>Translate a real-world problem into a precise algorithm and a working Java program using primitive types, expressions, and sequential console I/O.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06040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alc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65" y="2720157"/>
            <a:ext cx="247253" cy="247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99616" y="2569464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Variables &amp; constants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BIN_CAPACITY, TRUCK_CAPACITY, COST_PER_KG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319272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lis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65" y="3433389"/>
            <a:ext cx="247253" cy="2472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99616" y="3282696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Data types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int for kg, double for fill % and cost, String for names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03250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andom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" y="4146621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99616" y="3995928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Type casting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(double) kg * 100 / capacity keeps the decimal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745736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upe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4859853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99616" y="4709159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Operators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Cost = kg x 2.5, trucks = (load + 999) / 1000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5458968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keyboar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65" y="5573085"/>
            <a:ext cx="247253" cy="24725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99616" y="5422392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Scanner input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Reads the menu choice, day and waste values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606040"/>
            <a:ext cx="4663440" cy="3429000"/>
          </a:xfrm>
          <a:prstGeom prst="roundRect">
            <a:avLst>
              <a:gd name="adj" fmla="val 4000"/>
            </a:avLst>
          </a:prstGeom>
          <a:solidFill>
            <a:srgbClr val="1C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876288" y="2788920"/>
            <a:ext cx="109728" cy="109728"/>
          </a:xfrm>
          <a:prstGeom prst="ellipse">
            <a:avLst/>
          </a:prstGeom>
          <a:solidFill>
            <a:srgbClr val="E0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77455" y="2788920"/>
            <a:ext cx="109728" cy="109728"/>
          </a:xfrm>
          <a:prstGeom prst="ellipse">
            <a:avLst/>
          </a:prstGeom>
          <a:solidFill>
            <a:srgbClr val="E8B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78624" y="2788920"/>
            <a:ext cx="109728" cy="10972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697480"/>
            <a:ext cx="35661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A9B8AC"/>
                </a:solidFill>
                <a:latin typeface="Calibri"/>
              </a:rPr>
              <a:t>WasteCollectionOptimiser.java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108960"/>
            <a:ext cx="4251959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static final int BIN_CAPACITY = 500;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static final double COST_PER_KG = 2.5;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static double fillPercent(int kg) {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return (double) kg * 100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       / BIN_CAPACITY;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9CC77F"/>
                </a:solidFill>
                <a:latin typeface="Consolas"/>
              </a:rPr>
              <a:t>// round up without Math.ceil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int trucks = (load + TRUCK_CAPACITY - 1)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         / TRUCK_CAPACITY;</a:t>
            </a:r>
          </a:p>
        </p:txBody>
      </p:sp>
    </p:spTree>
    <p:extLst>
      <p:ext uri="{BB962C8B-B14F-4D97-AF65-F5344CB8AC3E}">
        <p14:creationId xmlns:p14="http://schemas.microsoft.com/office/powerpoint/2010/main" val="410424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FDF4-A21D-11D6-CA7A-382058E2F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b="1" sz="3600">
                <a:solidFill>
                  <a:srgbClr val="2C5F2D"/>
                </a:solidFill>
                <a:latin typeface="Calibri"/>
              </a:rPr>
              <a:t>CO 2 Topics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2284BF-AE73-C39E-0CCD-CD938FF8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5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10497312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1700784"/>
            <a:ext cx="1013155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C5F2D"/>
                </a:solidFill>
                <a:latin typeface="Calibri"/>
              </a:rPr>
              <a:t>CO2  </a:t>
            </a:r>
            <a:r>
              <a:rPr sz="1350" b="0" i="1">
                <a:solidFill>
                  <a:srgbClr val="5F6B62"/>
                </a:solidFill>
                <a:latin typeface="Calibri"/>
              </a:rPr>
              <a:t>Design control flow using selection and iteration to solve problems requiring decisions and repetition.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06040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s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65" y="2720157"/>
            <a:ext cx="247253" cy="247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99616" y="2569464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do-while + switch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Main menu keeps running until the user picks 0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319272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itemap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65" y="3433389"/>
            <a:ext cx="247253" cy="2472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99616" y="3282696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if-else-if ladder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Sets bin status: LOW, HALF, FULL or OVERFLOW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03250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do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" y="4146621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99616" y="3995928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Input validation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do-while asks again for a negative kg or wrong day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745736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b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4859853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99616" y="4709159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Nested for loops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Fill and print the area x day table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5458968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rout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65" y="5573085"/>
            <a:ext cx="247253" cy="24725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99616" y="5422392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break / continue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Stop search when found, skip LOW areas in the plan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606040"/>
            <a:ext cx="4663440" cy="3429000"/>
          </a:xfrm>
          <a:prstGeom prst="roundRect">
            <a:avLst>
              <a:gd name="adj" fmla="val 4000"/>
            </a:avLst>
          </a:prstGeom>
          <a:solidFill>
            <a:srgbClr val="1C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876288" y="2788920"/>
            <a:ext cx="109728" cy="109728"/>
          </a:xfrm>
          <a:prstGeom prst="ellipse">
            <a:avLst/>
          </a:prstGeom>
          <a:solidFill>
            <a:srgbClr val="E0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77455" y="2788920"/>
            <a:ext cx="109728" cy="109728"/>
          </a:xfrm>
          <a:prstGeom prst="ellipse">
            <a:avLst/>
          </a:prstGeom>
          <a:solidFill>
            <a:srgbClr val="E8B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78624" y="2788920"/>
            <a:ext cx="109728" cy="10972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697480"/>
            <a:ext cx="35661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A9B8AC"/>
                </a:solidFill>
                <a:latin typeface="Calibri"/>
              </a:rPr>
              <a:t>WasteCollectionOptimiser.java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108960"/>
            <a:ext cx="4251959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static String getStatus(int kg) {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    double p = fillPercent(kg);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    if (p &gt; 100)      return "OVERFLOW";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    else if (p &gt;= 80) return "FULL";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    else if (p &gt;= 40) return "HALF";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    else              return "LOW";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CC77F"/>
                </a:solidFill>
                <a:latin typeface="Consolas"/>
              </a:rPr>
              <a:t>// in collectionPlan()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if (getStatus(waste[i][day]).equals("LOW"))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6EFE2"/>
                </a:solidFill>
                <a:latin typeface="Consolas"/>
              </a:rPr>
              <a:t>    continue;   // no truck needed</a:t>
            </a:r>
          </a:p>
        </p:txBody>
      </p:sp>
    </p:spTree>
    <p:extLst>
      <p:ext uri="{BB962C8B-B14F-4D97-AF65-F5344CB8AC3E}">
        <p14:creationId xmlns:p14="http://schemas.microsoft.com/office/powerpoint/2010/main" val="417811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BDDFB-DFEC-7A21-D889-17965A2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b="1" sz="3600">
                <a:solidFill>
                  <a:srgbClr val="2C5F2D"/>
                </a:solidFill>
                <a:latin typeface="Calibri"/>
              </a:rPr>
              <a:t>CO 3 Topics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DE39BA-552D-5E87-9C16-8B572429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6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10497312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24128" y="1700784"/>
            <a:ext cx="1013155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2C5F2D"/>
                </a:solidFill>
                <a:latin typeface="Calibri"/>
              </a:rPr>
              <a:t>CO3  </a:t>
            </a:r>
            <a:r>
              <a:rPr sz="1350" b="0" i="1">
                <a:solidFill>
                  <a:srgbClr val="5F6B62"/>
                </a:solidFill>
                <a:latin typeface="Calibri"/>
              </a:rPr>
              <a:t>Modularise solutions using methods and recursion, and store/process data with one- and two-dimensional arrays.</a:t>
            </a:r>
          </a:p>
        </p:txBody>
      </p:sp>
      <p:sp>
        <p:nvSpPr>
          <p:cNvPr id="8" name="Oval 7"/>
          <p:cNvSpPr/>
          <p:nvPr/>
        </p:nvSpPr>
        <p:spPr>
          <a:xfrm>
            <a:off x="841248" y="2606040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de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365" y="2720157"/>
            <a:ext cx="247253" cy="2472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99616" y="2569464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Methods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fillPercent(), getStatus(), weeklyReport(), collectionPlan()</a:t>
            </a:r>
          </a:p>
        </p:txBody>
      </p:sp>
      <p:sp>
        <p:nvSpPr>
          <p:cNvPr id="11" name="Oval 10"/>
          <p:cNvSpPr/>
          <p:nvPr/>
        </p:nvSpPr>
        <p:spPr>
          <a:xfrm>
            <a:off x="841248" y="3319272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og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65" y="3433389"/>
            <a:ext cx="247253" cy="2472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99616" y="3282696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Method overloading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getTotal(int[]) for one area, getTotal(int[][]) for the city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403250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do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365" y="4146621"/>
            <a:ext cx="247253" cy="24725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99616" y="3995928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Recursion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dayTotal(day, area) adds one area, then calls itself</a:t>
            </a:r>
          </a:p>
        </p:txBody>
      </p:sp>
      <p:sp>
        <p:nvSpPr>
          <p:cNvPr id="17" name="Oval 16"/>
          <p:cNvSpPr/>
          <p:nvPr/>
        </p:nvSpPr>
        <p:spPr>
          <a:xfrm>
            <a:off x="841248" y="4745736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abl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365" y="4859853"/>
            <a:ext cx="247253" cy="24725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99616" y="4709159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2D array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waste[5][7] stores kg for every area and day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5458968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o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365" y="5573085"/>
            <a:ext cx="247253" cy="24725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499616" y="5422392"/>
            <a:ext cx="4873751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 i="0">
                <a:solidFill>
                  <a:srgbClr val="2C5F2D"/>
                </a:solidFill>
                <a:latin typeface="Calibri"/>
              </a:rPr>
              <a:t>1D array processing</a:t>
            </a:r>
          </a:p>
          <a:p>
            <a:pPr algn="l">
              <a:spcAft>
                <a:spcPts val="100"/>
              </a:spcAft>
            </a:pPr>
            <a:r>
              <a:rPr sz="1400" b="0" i="0">
                <a:solidFill>
                  <a:srgbClr val="1F2A22"/>
                </a:solidFill>
                <a:latin typeface="Calibri"/>
              </a:rPr>
              <a:t>for-each sum, linear search, bubble sort ranking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606040"/>
            <a:ext cx="4663440" cy="3429000"/>
          </a:xfrm>
          <a:prstGeom prst="roundRect">
            <a:avLst>
              <a:gd name="adj" fmla="val 4000"/>
            </a:avLst>
          </a:prstGeom>
          <a:solidFill>
            <a:srgbClr val="1C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6876288" y="2788920"/>
            <a:ext cx="109728" cy="109728"/>
          </a:xfrm>
          <a:prstGeom prst="ellipse">
            <a:avLst/>
          </a:prstGeom>
          <a:solidFill>
            <a:srgbClr val="E0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77455" y="2788920"/>
            <a:ext cx="109728" cy="109728"/>
          </a:xfrm>
          <a:prstGeom prst="ellipse">
            <a:avLst/>
          </a:prstGeom>
          <a:solidFill>
            <a:srgbClr val="E8B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78624" y="2788920"/>
            <a:ext cx="109728" cy="10972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697480"/>
            <a:ext cx="356615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A9B8AC"/>
                </a:solidFill>
                <a:latin typeface="Calibri"/>
              </a:rPr>
              <a:t>WasteCollectionOptimiser.java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108960"/>
            <a:ext cx="4251959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static int getTotal(int[] row) {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int sum = 0;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for (int kg : row) sum += kg;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return sum;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static int dayTotal(int day, int area) {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if (area == AREAS)   // base case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    return 0;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return waste[area][day]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           + dayTotal(day, area + 1);</a:t>
            </a:r>
          </a:p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E6EFE2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6987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EF2EB-DC8E-A39F-8C45-4CB818547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b="1" sz="3600">
                <a:solidFill>
                  <a:srgbClr val="2C5F2D"/>
                </a:solidFill>
                <a:latin typeface="Calibri"/>
              </a:rPr>
              <a:t>Geo Tag Photo and GitHub Link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CFBAF-EF7C-CF04-7D6A-23B99B45B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012AB6-14AF-4351-87AD-D420B05274E1}" type="slidenum">
              <a:rPr lang="en-IN" smtClean="0"/>
              <a:t>7</a:t>
            </a:fld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841248" y="1783080"/>
            <a:ext cx="4572000" cy="4206240"/>
          </a:xfrm>
          <a:prstGeom prst="roundRect">
            <a:avLst>
              <a:gd name="adj" fmla="val 6000"/>
            </a:avLst>
          </a:prstGeom>
          <a:solidFill>
            <a:srgbClr val="1C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githu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03120"/>
            <a:ext cx="731520" cy="731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57400" y="2148840"/>
            <a:ext cx="32004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Source code on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63240"/>
            <a:ext cx="40690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97BC62"/>
                </a:solidFill>
                <a:latin typeface="Calibri"/>
              </a:rPr>
              <a:t>github.com/eagabhavyansh-cloud/
Municipal-Waste-Collection-Optimiser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14800"/>
            <a:ext cx="40690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Repository contains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E6EFE2"/>
                </a:solidFill>
                <a:latin typeface="Calibri"/>
              </a:rPr>
              <a:t>Abstract (PDF)</a:t>
            </a:r>
          </a:p>
          <a:p>
            <a:pPr algn="l">
              <a:spcAft>
                <a:spcPts val="300"/>
              </a:spcAft>
            </a:pPr>
            <a:r>
              <a:rPr sz="1450" b="0" i="0">
                <a:solidFill>
                  <a:srgbClr val="E6EFE2"/>
                </a:solidFill>
                <a:latin typeface="Calibri"/>
              </a:rPr>
              <a:t>WasteCollectionOptimiser.java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60720" y="1783080"/>
            <a:ext cx="5596128" cy="4206240"/>
          </a:xfrm>
          <a:prstGeom prst="roundRect">
            <a:avLst>
              <a:gd name="adj" fmla="val 6000"/>
            </a:avLst>
          </a:prstGeom>
          <a:solidFill>
            <a:srgbClr val="EEF5E8"/>
          </a:solidFill>
          <a:ln w="15875">
            <a:solidFill>
              <a:srgbClr val="97BC6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camera_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3154680"/>
            <a:ext cx="777240" cy="777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0" y="4069080"/>
            <a:ext cx="559612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 i="0">
                <a:solidFill>
                  <a:srgbClr val="2C5F2D"/>
                </a:solidFill>
                <a:latin typeface="Calibri"/>
              </a:rPr>
              <a:t>Paste geo-tagged photo here</a:t>
            </a:r>
          </a:p>
          <a:p>
            <a:pPr algn="ctr">
              <a:spcAft>
                <a:spcPts val="200"/>
              </a:spcAft>
            </a:pPr>
            <a:r>
              <a:rPr sz="1300" b="0" i="0">
                <a:solidFill>
                  <a:srgbClr val="5F6B62"/>
                </a:solidFill>
                <a:latin typeface="Calibri"/>
              </a:rPr>
              <a:t>taken during the review</a:t>
            </a:r>
          </a:p>
        </p:txBody>
      </p:sp>
    </p:spTree>
    <p:extLst>
      <p:ext uri="{BB962C8B-B14F-4D97-AF65-F5344CB8AC3E}">
        <p14:creationId xmlns:p14="http://schemas.microsoft.com/office/powerpoint/2010/main" val="1396777043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2C5F2D"/>
                </a:solidFill>
                <a:latin typeface="Calibri"/>
              </a:rPr>
              <a:t>Sample Output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41248" y="1691640"/>
          <a:ext cx="57607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41248" y="4983480"/>
            <a:ext cx="1828800" cy="1051560"/>
          </a:xfrm>
          <a:prstGeom prst="roundRect">
            <a:avLst>
              <a:gd name="adj" fmla="val 10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78408" y="504748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C5F2D"/>
                </a:solidFill>
                <a:latin typeface="Calibri"/>
              </a:rPr>
              <a:t>13,010 kg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553212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B62"/>
                </a:solidFill>
                <a:latin typeface="Calibri"/>
              </a:rPr>
              <a:t>city total /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07208" y="4983480"/>
            <a:ext cx="1828800" cy="1051560"/>
          </a:xfrm>
          <a:prstGeom prst="roundRect">
            <a:avLst>
              <a:gd name="adj" fmla="val 10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2944368" y="504748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C5F2D"/>
                </a:solidFill>
                <a:latin typeface="Calibri"/>
              </a:rPr>
              <a:t>Rs. 32,525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553212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B62"/>
                </a:solidFill>
                <a:latin typeface="Calibri"/>
              </a:rPr>
              <a:t>collection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3168" y="4983480"/>
            <a:ext cx="1828800" cy="1051560"/>
          </a:xfrm>
          <a:prstGeom prst="roundRect">
            <a:avLst>
              <a:gd name="adj" fmla="val 10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10328" y="5047488"/>
            <a:ext cx="1600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C5F2D"/>
                </a:solidFill>
                <a:latin typeface="Calibri"/>
              </a:rPr>
              <a:t>Sunday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8" y="5532120"/>
            <a:ext cx="1600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F6B62"/>
                </a:solidFill>
                <a:latin typeface="Calibri"/>
              </a:rPr>
              <a:t>busiest day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691640"/>
            <a:ext cx="4389120" cy="4343400"/>
          </a:xfrm>
          <a:prstGeom prst="roundRect">
            <a:avLst>
              <a:gd name="adj" fmla="val 4000"/>
            </a:avLst>
          </a:prstGeom>
          <a:solidFill>
            <a:srgbClr val="1C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150607" y="1874520"/>
            <a:ext cx="109728" cy="109728"/>
          </a:xfrm>
          <a:prstGeom prst="ellipse">
            <a:avLst/>
          </a:prstGeom>
          <a:solidFill>
            <a:srgbClr val="E06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51775" y="1874520"/>
            <a:ext cx="109728" cy="109728"/>
          </a:xfrm>
          <a:prstGeom prst="ellipse">
            <a:avLst/>
          </a:prstGeom>
          <a:solidFill>
            <a:srgbClr val="E8B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52944" y="1874520"/>
            <a:ext cx="109728" cy="109728"/>
          </a:xfrm>
          <a:prstGeom prst="ellipse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783080"/>
            <a:ext cx="3291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A9B8AC"/>
                </a:solidFill>
                <a:latin typeface="Calibri"/>
              </a:rPr>
              <a:t>Console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94560"/>
            <a:ext cx="3977639" cy="3703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&gt; 7   (collection plan)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Enter day number: 1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Collection plan for Mon: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  Collect from Bachupally - 420 kg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  Collect from Miyapur - 300 kg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  Collect from Kukatpally - 520 kg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  Skip Nizampet (bins still low)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  Collect from Pragathi Nagar - 260 kg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Total load: 1500 kg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Trucks needed: 2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6EFE2"/>
                </a:solidFill>
                <a:latin typeface="Consolas"/>
              </a:rPr>
              <a:t>Estimated cost: Rs. 3750.00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2C5F2D"/>
                </a:solidFill>
                <a:latin typeface="Calibri"/>
              </a:rPr>
              <a:t>Program Flow</a:t>
            </a:r>
          </a:p>
        </p:txBody>
      </p:sp>
      <p:sp>
        <p:nvSpPr>
          <p:cNvPr id="3" name="Oval 2"/>
          <p:cNvSpPr/>
          <p:nvPr/>
        </p:nvSpPr>
        <p:spPr>
          <a:xfrm>
            <a:off x="1481328" y="1645920"/>
            <a:ext cx="1828800" cy="56692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81328" y="1645920"/>
            <a:ext cx="1828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5" name="Down Arrow 4"/>
          <p:cNvSpPr/>
          <p:nvPr/>
        </p:nvSpPr>
        <p:spPr>
          <a:xfrm>
            <a:off x="2249424" y="2258568"/>
            <a:ext cx="292608" cy="292608"/>
          </a:xfrm>
          <a:prstGeom prst="down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2596896"/>
            <a:ext cx="3108960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596896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2A22"/>
                </a:solidFill>
                <a:latin typeface="Calibri"/>
              </a:rPr>
              <a:t>Show menu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F6B62"/>
                </a:solidFill>
                <a:latin typeface="Consolas"/>
              </a:rPr>
              <a:t>do-while loop</a:t>
            </a:r>
          </a:p>
        </p:txBody>
      </p:sp>
      <p:sp>
        <p:nvSpPr>
          <p:cNvPr id="8" name="Down Arrow 7"/>
          <p:cNvSpPr/>
          <p:nvPr/>
        </p:nvSpPr>
        <p:spPr>
          <a:xfrm>
            <a:off x="2249424" y="3355848"/>
            <a:ext cx="292608" cy="292608"/>
          </a:xfrm>
          <a:prstGeom prst="down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3621024"/>
            <a:ext cx="3108960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3621024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2A22"/>
                </a:solidFill>
                <a:latin typeface="Calibri"/>
              </a:rPr>
              <a:t>Read choice</a:t>
            </a:r>
          </a:p>
          <a:p>
            <a:pPr algn="ctr">
              <a:spcAft>
                <a:spcPts val="0"/>
              </a:spcAft>
            </a:pPr>
            <a:r>
              <a:rPr sz="1250" b="0" i="0">
                <a:solidFill>
                  <a:srgbClr val="5F6B62"/>
                </a:solidFill>
                <a:latin typeface="Consolas"/>
              </a:rPr>
              <a:t>Scanner.nextInt()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2249424" y="4379976"/>
            <a:ext cx="292608" cy="292608"/>
          </a:xfrm>
          <a:prstGeom prst="down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iamond 11"/>
          <p:cNvSpPr/>
          <p:nvPr/>
        </p:nvSpPr>
        <p:spPr>
          <a:xfrm>
            <a:off x="1161288" y="4617720"/>
            <a:ext cx="2468880" cy="960120"/>
          </a:xfrm>
          <a:prstGeom prst="diamond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617720"/>
            <a:ext cx="24688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choice == 0 ?</a:t>
            </a:r>
          </a:p>
        </p:txBody>
      </p:sp>
      <p:sp>
        <p:nvSpPr>
          <p:cNvPr id="14" name="Oval 13"/>
          <p:cNvSpPr/>
          <p:nvPr/>
        </p:nvSpPr>
        <p:spPr>
          <a:xfrm>
            <a:off x="1709928" y="5806440"/>
            <a:ext cx="13716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9928" y="580644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8" y="55595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F6B62"/>
                </a:solidFill>
                <a:latin typeface="Calibri"/>
              </a:rPr>
              <a:t>Yes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694176" y="4928616"/>
            <a:ext cx="731520" cy="347472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21608" y="45902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F6B62"/>
                </a:solidFill>
                <a:latin typeface="Calibri"/>
              </a:rP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1645920"/>
            <a:ext cx="6556248" cy="397763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97BC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074920" y="178308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2C5F2D"/>
                </a:solidFill>
                <a:latin typeface="Consolas"/>
              </a:rPr>
              <a:t>switch (choice)</a:t>
            </a:r>
            <a:r>
              <a:rPr sz="1400" b="0" i="0">
                <a:solidFill>
                  <a:srgbClr val="5F6B62"/>
                </a:solidFill>
                <a:latin typeface="Calibri"/>
              </a:rPr>
              <a:t>   runs one 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267712"/>
            <a:ext cx="2926080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212080" y="238658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keyboar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197" y="2500701"/>
            <a:ext cx="247253" cy="24725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824728" y="2304288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A22"/>
                </a:solidFill>
                <a:latin typeface="Calibri"/>
              </a:rPr>
              <a:t>1  Enter waste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B62"/>
                </a:solidFill>
                <a:latin typeface="Consolas"/>
              </a:rPr>
              <a:t>enterDayWaste()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2267712"/>
            <a:ext cx="2926080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8293608" y="238658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725" y="2500701"/>
            <a:ext cx="247253" cy="24725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06256" y="2304288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A22"/>
                </a:solidFill>
                <a:latin typeface="Calibri"/>
              </a:rPr>
              <a:t>2  Load sample data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B62"/>
                </a:solidFill>
                <a:latin typeface="Consolas"/>
              </a:rPr>
              <a:t>loadSampleData()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3090672"/>
            <a:ext cx="2926080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5212080" y="320954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6197" y="3323661"/>
            <a:ext cx="247253" cy="24725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824728" y="3127248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A22"/>
                </a:solidFill>
                <a:latin typeface="Calibri"/>
              </a:rPr>
              <a:t>3  Weekly report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B62"/>
                </a:solidFill>
                <a:latin typeface="Consolas"/>
              </a:rPr>
              <a:t>weeklyReport()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3090672"/>
            <a:ext cx="2926080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8293608" y="3209544"/>
            <a:ext cx="475488" cy="475488"/>
          </a:xfrm>
          <a:prstGeom prst="ellipse">
            <a:avLst/>
          </a:prstGeom>
          <a:solidFill>
            <a:srgbClr val="E0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warn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7725" y="3323661"/>
            <a:ext cx="247253" cy="24725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906256" y="3127248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A22"/>
                </a:solidFill>
                <a:latin typeface="Calibri"/>
              </a:rPr>
              <a:t>4  Bin status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B62"/>
                </a:solidFill>
                <a:latin typeface="Consolas"/>
              </a:rPr>
              <a:t>binStatus(day)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74920" y="3913632"/>
            <a:ext cx="2926080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5212080" y="403250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o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6197" y="4146621"/>
            <a:ext cx="247253" cy="24725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824728" y="3950208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A22"/>
                </a:solidFill>
                <a:latin typeface="Calibri"/>
              </a:rPr>
              <a:t>5  Rank areas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B62"/>
                </a:solidFill>
                <a:latin typeface="Consolas"/>
              </a:rPr>
              <a:t>rankAreas()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56448" y="3913632"/>
            <a:ext cx="2926080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8293608" y="403250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earch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725" y="4146621"/>
            <a:ext cx="247253" cy="24725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906256" y="3950208"/>
            <a:ext cx="21031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A22"/>
                </a:solidFill>
                <a:latin typeface="Calibri"/>
              </a:rPr>
              <a:t>6  Search area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B62"/>
                </a:solidFill>
                <a:latin typeface="Consolas"/>
              </a:rPr>
              <a:t>searchArea()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74920" y="4736592"/>
            <a:ext cx="6007608" cy="713232"/>
          </a:xfrm>
          <a:prstGeom prst="roundRect">
            <a:avLst>
              <a:gd name="adj" fmla="val 12000"/>
            </a:avLst>
          </a:prstGeom>
          <a:solidFill>
            <a:srgbClr val="EEF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5212080" y="4855464"/>
            <a:ext cx="475488" cy="475488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tru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26197" y="4969581"/>
            <a:ext cx="247253" cy="247253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824728" y="4773168"/>
            <a:ext cx="518464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F2A22"/>
                </a:solidFill>
                <a:latin typeface="Calibri"/>
              </a:rPr>
              <a:t>7  Collection plan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6B62"/>
                </a:solidFill>
                <a:latin typeface="Consolas"/>
              </a:rPr>
              <a:t>collectionPlan(day)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800600" y="5760720"/>
            <a:ext cx="6556248" cy="548640"/>
          </a:xfrm>
          <a:prstGeom prst="roundRect">
            <a:avLst>
              <a:gd name="adj" fmla="val 30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0" name="Picture 49" descr="redo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5870448"/>
            <a:ext cx="329184" cy="32918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577840" y="5760720"/>
            <a:ext cx="56692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After every option, the program loops back to Show 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Title of the Project Team No</vt:lpstr>
      <vt:lpstr>Abstract</vt:lpstr>
      <vt:lpstr>Understanding Problem Statement</vt:lpstr>
      <vt:lpstr>CO 1 Topics</vt:lpstr>
      <vt:lpstr>Co 2 TOPICS</vt:lpstr>
      <vt:lpstr>CO 3 Topics</vt:lpstr>
      <vt:lpstr>Geo Tag Photo and git hub link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TSP MADHURI</dc:creator>
  <cp:lastModifiedBy>TSP MADHURI</cp:lastModifiedBy>
  <cp:revision>1</cp:revision>
  <dcterms:created xsi:type="dcterms:W3CDTF">2026-09-15T09:57:10Z</dcterms:created>
  <dcterms:modified xsi:type="dcterms:W3CDTF">2026-09-15T10:05:57Z</dcterms:modified>
</cp:coreProperties>
</file>