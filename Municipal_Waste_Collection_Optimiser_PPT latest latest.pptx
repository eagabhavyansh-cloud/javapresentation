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9" r:id="rId22"/>
    <p:sldId id="268" r:id="rId21"/>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4.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 Id="rId21" Type="http://schemas.openxmlformats.org/officeDocument/2006/relationships/slide" Target="slides/slide13.xml"/><Relationship Id="rId22"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ma'am. We are Team 31.</a:t>
            </a:r>
          </a:p>
          <a:p>
            <a:r>
              <a:t>Our project is the Municipal Waste Collection Optimiser.</a:t>
            </a:r>
          </a:p>
          <a:p>
            <a:r>
              <a:t>It is a Java console app that helps a city decide where garbage trucks are really needed each day.</a:t>
            </a:r>
          </a:p>
          <a:p>
            <a:r>
              <a:t>We will show how we used all six COs in this one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most cities, trucks follow the same route every day.</a:t>
            </a:r>
          </a:p>
          <a:p>
            <a:r>
              <a:t>They go to every area, even when some bins are almost empty, while other bins are overflowing.</a:t>
            </a:r>
          </a:p>
          <a:p>
            <a:r>
              <a:t>That wastes fuel, time and money.</a:t>
            </a:r>
          </a:p>
          <a:p>
            <a:r>
              <a:t>Our app records how much waste each area produces on each day of the week.</a:t>
            </a:r>
          </a:p>
          <a:p>
            <a:r>
              <a:t>It shows which bins are LOW, HALF, FULL or OVERFLOW, ranks the areas, and makes a daily plan that skips low bins and counts the trucks needed.</a:t>
            </a:r>
          </a:p>
          <a:p>
            <a:r>
              <a:t>We also load data from a CSV file, save the report to a text file, and use streams for quick insights.</a:t>
            </a:r>
          </a:p>
          <a:p>
            <a:r>
              <a:t>In total the app has 11 menu options, 5 classes and 1 interface, and it covers all 6 COs.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simple: use real data to decide where trucks should go.</a:t>
            </a:r>
          </a:p>
          <a:p>
            <a:r>
              <a:t>There are three problems we are solving.</a:t>
            </a:r>
          </a:p>
          <a:p>
            <a:r>
              <a:t>One, fixed routes waste fuel. Two, busy areas like markets overflow first. Three, supervisors have no data to plan with.</a:t>
            </a:r>
          </a:p>
          <a:p>
            <a:r>
              <a:t>The flow of our program is Input, Process, Output.</a:t>
            </a:r>
          </a:p>
          <a:p>
            <a:r>
              <a:t>Input is the area, the day and the waste in kg, typed in or read from a file.</a:t>
            </a:r>
          </a:p>
          <a:p>
            <a:r>
              <a:t>Process is the fill percentage, bin status, totals, ranking, trucks and cost.</a:t>
            </a:r>
          </a:p>
          <a:p>
            <a:r>
              <a:t>Output is the weekly report, the collection plan, the insights, and a saved report file.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CO1 is about turning a real problem into a Java program using basic data types and console input and output.</a:t>
            </a:r>
          </a:p>
          <a:p>
            <a:r>
              <a:t>We use int for waste in kg, double for cost and fill percentage, and String for area names.</a:t>
            </a:r>
          </a:p>
          <a:p>
            <a:r>
              <a:t>TRUCK_CAPACITY is a constant, so we declared it static final.</a:t>
            </a:r>
          </a:p>
          <a:p>
            <a:r>
              <a:t>For fill percentage we cast to double. Without the cast, integer division would give a wrong answer.</a:t>
            </a:r>
          </a:p>
          <a:p>
            <a:r>
              <a:t>To count trucks we round up using (load + 999) / 1000, so we don't need Math.ceil.</a:t>
            </a:r>
          </a:p>
          <a:p>
            <a:r>
              <a:t>For input we use the Scanner class. readDay() keeps asking until the day is between 1 and 7, using relational and logical operators.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CO2 is about decisions and loops.</a:t>
            </a:r>
          </a:p>
          <a:p>
            <a:r>
              <a:t>The getStatus() method uses an if-else-if ladder. Above 100 percent is OVERFLOW, 80 and above is FULL, 40 and above is HALF, and anything less is LOW.</a:t>
            </a:r>
          </a:p>
          <a:p>
            <a:r>
              <a:t>Our main menu uses a do-while loop with a switch. It keeps running until the user enters 0.</a:t>
            </a:r>
          </a:p>
          <a:p>
            <a:r>
              <a:t>We use while and do-while loops to check input, so the program never crashes on a wrong value.</a:t>
            </a:r>
          </a:p>
          <a:p>
            <a:r>
              <a:t>Nested for loops print the table of areas and days in the weekly report.</a:t>
            </a:r>
          </a:p>
          <a:p>
            <a:r>
              <a:t>In the collection plan, we use continue to skip areas whose bins are LOW, so no truck is sent there.</a:t>
            </a:r>
          </a:p>
          <a:p>
            <a:r>
              <a:t>In the search, we use break to stop as soon as the area is found.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CO3 is about methods, recursion and arrays.</a:t>
            </a:r>
          </a:p>
          <a:p>
            <a:r>
              <a:t>We split the work into methods like fillPercent(), getStatus() and collectionPlan(). Each takes parameters and returns a value.</a:t>
            </a:r>
          </a:p>
          <a:p>
            <a:r>
              <a:t>getTotal() is overloaded. One version takes a 1D array and gives one area's total. The other takes a 2D array and gives the whole city's total.</a:t>
            </a:r>
          </a:p>
          <a:p>
            <a:r>
              <a:t>dayTotal() uses recursion. It adds the waste of one area and then calls itself for the next area. The base case is when no areas are left.</a:t>
            </a:r>
          </a:p>
          <a:p>
            <a:r>
              <a:t>The toMatrix() method builds a 2D array where rows are areas and columns are the 7 days.</a:t>
            </a:r>
          </a:p>
          <a:p>
            <a:r>
              <a:t>To rank areas we use bubble sort, and to find an area we use linear 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CO4 is about object-oriented design and exceptions.</a:t>
            </a:r>
          </a:p>
          <a:p>
            <a:r>
              <a:t>CollectionArea is an abstract class. Its fields, name and waste, are private, and we access them through getters and setters. This is encapsulation.</a:t>
            </a:r>
          </a:p>
          <a:p>
            <a:r>
              <a:t>It has two constructors, and one calls the other using this().</a:t>
            </a:r>
          </a:p>
          <a:p>
            <a:r>
              <a:t>ResidentialArea and CommercialArea extend it. Residential bins hold 500 kg at 2.5 rupees per kg. Commercial bins hold 800 kg at 3 rupees per kg.</a:t>
            </a:r>
          </a:p>
          <a:p>
            <a:r>
              <a:t>Each class overrides getBinCapacity() and getCostPerKg(), so the same code gives the right answer for each type. This is polymorphism.</a:t>
            </a:r>
          </a:p>
          <a:p>
            <a:r>
              <a:t>The class also implements two interfaces, Reportable and Comparable.</a:t>
            </a:r>
          </a:p>
          <a:p>
            <a:r>
              <a:t>We made our own exception, InvalidWasteException. setWaste() throws it if the waste is negative or too large, and we catch it with try-catch and ask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CO5 is about Strings, library sorting and files.</a:t>
            </a:r>
          </a:p>
          <a:p>
            <a:r>
              <a:t>We use String methods like trim, toLowerCase, equalsIgnoreCase and contains. For example, if you search "kuk", the app asks "Did you mean Kukatpally?"</a:t>
            </a:r>
          </a:p>
          <a:p>
            <a:r>
              <a:t>The weekly report is built with a StringBuilder, so the same text can be shown on screen and saved to a file.</a:t>
            </a:r>
          </a:p>
          <a:p>
            <a:r>
              <a:t>Option 2 reads waste_data.csv line by line using BufferedReader. Each line is split by commas and the numbers are read with parseInt.</a:t>
            </a:r>
          </a:p>
          <a:p>
            <a:r>
              <a:t>If a line has a bad value, like "abc", we catch the error, skip that line and keep going.</a:t>
            </a:r>
          </a:p>
          <a:p>
            <a:r>
              <a:t>We use try-with-resources, so the file closes on its own.</a:t>
            </a:r>
          </a:p>
          <a:p>
            <a:r>
              <a:t>For sorting we use Comparable with Collections.sort to get the top 3 areas.</a:t>
            </a:r>
          </a:p>
          <a:p>
            <a:r>
              <a:t>Option 11 saves the report to weekly_report.txt using BufferedWriter.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CO6 is about collections, lambdas and streams.</a:t>
            </a:r>
          </a:p>
          <a:p>
            <a:r>
              <a:t>We store all areas in an ArrayList, and use a HashMap to find an area by name quickly. A TreeSet gives the area names in A to Z order.</a:t>
            </a:r>
          </a:p>
          <a:p>
            <a:r>
              <a:t>All of these use generics, like List of CollectionArea, so only the right type of object can go in.</a:t>
            </a:r>
          </a:p>
          <a:p>
            <a:r>
              <a:t>In Smart Insights we use a lambda with a Predicate to check if an area overflowed on any day.</a:t>
            </a:r>
          </a:p>
          <a:p>
            <a:r>
              <a:t>Then a stream pipeline filters those areas, maps them to their names and collects them into a list.</a:t>
            </a:r>
          </a:p>
          <a:p>
            <a:r>
              <a:t>groupingBy gives the total waste for each area type, and max() returns an Optional with the area that has the most waste.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a menu-driven Java app that tracks waste for each area and each day, finds full bins and plans trucks.</a:t>
            </a:r>
          </a:p>
          <a:p>
            <a:r>
              <a:t>On our sample data, the Monday plan sends trucks to 6 of 7 areas. That is 2,520 kg, so 3 trucks are needed. On Sunday, 5 areas need urgent pickup.</a:t>
            </a:r>
          </a:p>
          <a:p>
            <a:r>
              <a:t>We learnt how moving from arrays and methods to objects, files and streams makes the code easier to extend and safer with bad input.</a:t>
            </a:r>
          </a:p>
          <a:p>
            <a:r>
              <a:t>In the future, we can add GPS-based truck routes, a GUI or web dashboard, and a database.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weekly report. First we loaded the data from the CSV file.</a:t>
            </a:r>
          </a:p>
          <a:p>
            <a:r>
              <a:t>You can see that line 8 was skipped because it had "abc" instead of a number.</a:t>
            </a:r>
          </a:p>
          <a:p>
            <a:r>
              <a:t>The table shows each area's waste for every day, with its total and average.</a:t>
            </a:r>
          </a:p>
          <a:p>
            <a:r>
              <a:t>The city total for the week is 21,090 kg, the collection cost is 57,525 rupees, and Sunday is the busiest day.</a:t>
            </a:r>
          </a:p>
          <a:p>
            <a:r>
              <a:t>The cost uses each area type's own rate, which is polymorphism from CO4.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Smart Insights option, which uses CO6.</a:t>
            </a:r>
          </a:p>
          <a:p>
            <a:r>
              <a:t>Bachupally and Ameerpet overflowed this week.</a:t>
            </a:r>
          </a:p>
          <a:p>
            <a:r>
              <a:t>Ameerpet has the highest waste, 5,500 kg.</a:t>
            </a:r>
          </a:p>
          <a:p>
            <a:r>
              <a:t>Commercial areas produced 9,600 kg and residential areas produced 11,490 kg.</a:t>
            </a:r>
          </a:p>
          <a:p>
            <a:r>
              <a:t>The top 3 areas come from Comparable sorting, and the A to Z list comes from a TreeSet.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bin status for Sunday. Bachupally and Ameerpet are overflowing, and 5 areas need urgent pickup.</a:t>
            </a:r>
          </a:p>
          <a:p>
            <a:r>
              <a:t>Below it is the Monday plan. Nizampet is skipped because its bins are low, and 3 trucks are needed.</a:t>
            </a:r>
          </a:p>
          <a:p>
            <a:r>
              <a:t>On the right is our error handling.</a:t>
            </a:r>
          </a:p>
          <a:p>
            <a:r>
              <a:t>A negative value shows our own exception message. Typing "abc" asks for a number again. A wrong menu choice shows "Invalid choice".</a:t>
            </a:r>
          </a:p>
          <a:p>
            <a:r>
              <a:t>So the program never crashes on bad input.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code, abstract and sample data file are on GitHub at this link.</a:t>
            </a:r>
          </a:p>
          <a:p>
            <a:r>
              <a:t>This is our geo-tagged photo from today's review.</a:t>
            </a:r>
          </a:p>
          <a:p>
            <a:r>
              <a:t>Thank you, ma'am. We are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17.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0.png"/><Relationship Id="rId6" Type="http://schemas.openxmlformats.org/officeDocument/2006/relationships/image" Target="../media/image20.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24.png"/><Relationship Id="rId6" Type="http://schemas.openxmlformats.org/officeDocument/2006/relationships/image" Target="../media/image20.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914400" y="1234440"/>
            <a:ext cx="10360152" cy="1737360"/>
          </a:xfrm>
        </p:spPr>
        <p:txBody>
          <a:bodyPr/>
          <a:lstStyle/>
          <a:p>
            <a:r>
              <a:rPr lang="en-IN" dirty="0" b="1" sz="4200">
                <a:solidFill>
                  <a:srgbClr val="124A28"/>
                </a:solidFill>
                <a:latin typeface="Calibri"/>
              </a:rPr>
              <a:t>Municipal Waste Collection Optimiser</a:t>
            </a:r>
            <a:br>
              <a:rPr lang="en-IN" dirty="0"/>
            </a:br>
            <a:r>
              <a:rPr lang="en-IN" dirty="0" b="1" sz="2200">
                <a:solidFill>
                  <a:srgbClr val="E88B1E"/>
                </a:solidFill>
                <a:latin typeface="Calibri"/>
              </a:rPr>
              <a:t>Team No 31</a:t>
            </a:r>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15-10-2026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
        <p:nvSpPr>
          <p:cNvPr id="10" name="Oval 9"/>
          <p:cNvSpPr/>
          <p:nvPr/>
        </p:nvSpPr>
        <p:spPr>
          <a:xfrm>
            <a:off x="5678424" y="502920"/>
            <a:ext cx="822960" cy="822960"/>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recycle_w.png"/>
          <p:cNvPicPr>
            <a:picLocks noChangeAspect="1"/>
          </p:cNvPicPr>
          <p:nvPr/>
        </p:nvPicPr>
        <p:blipFill>
          <a:blip r:embed="rId2"/>
          <a:stretch>
            <a:fillRect/>
          </a:stretch>
        </p:blipFill>
        <p:spPr>
          <a:xfrm>
            <a:off x="5875934" y="700430"/>
            <a:ext cx="427939" cy="427939"/>
          </a:xfrm>
          <a:prstGeom prst="rect">
            <a:avLst/>
          </a:prstGeom>
        </p:spPr>
      </p:pic>
      <p:sp>
        <p:nvSpPr>
          <p:cNvPr id="12" name="Rounded Rectangle 11"/>
          <p:cNvSpPr/>
          <p:nvPr/>
        </p:nvSpPr>
        <p:spPr>
          <a:xfrm>
            <a:off x="682599" y="3429000"/>
            <a:ext cx="2514600" cy="1051560"/>
          </a:xfrm>
          <a:prstGeom prst="roundRect">
            <a:avLst>
              <a:gd name="adj" fmla="val 14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2599" y="3584448"/>
            <a:ext cx="2514600" cy="777240"/>
          </a:xfrm>
          <a:prstGeom prst="rect">
            <a:avLst/>
          </a:prstGeom>
          <a:noFill/>
        </p:spPr>
        <p:txBody>
          <a:bodyPr wrap="square" anchor="t" lIns="0" rIns="0" tIns="0" bIns="0">
            <a:spAutoFit/>
          </a:bodyPr>
          <a:lstStyle/>
          <a:p>
            <a:pPr algn="ctr">
              <a:spcAft>
                <a:spcPts val="200"/>
              </a:spcAft>
            </a:pPr>
            <a:r>
              <a:rPr sz="1800" b="1" i="0">
                <a:solidFill>
                  <a:srgbClr val="1F2A24"/>
                </a:solidFill>
                <a:latin typeface="Calibri"/>
              </a:rPr>
              <a:t>E. Bhavyansh</a:t>
            </a:r>
          </a:p>
          <a:p>
            <a:pPr algn="ctr">
              <a:spcAft>
                <a:spcPts val="200"/>
              </a:spcAft>
            </a:pPr>
            <a:r>
              <a:rPr sz="1500" b="0" i="0">
                <a:solidFill>
                  <a:srgbClr val="5A6B61"/>
                </a:solidFill>
                <a:latin typeface="Calibri"/>
              </a:rPr>
              <a:t>2620030142</a:t>
            </a:r>
          </a:p>
        </p:txBody>
      </p:sp>
      <p:sp>
        <p:nvSpPr>
          <p:cNvPr id="14" name="Rounded Rectangle 13"/>
          <p:cNvSpPr/>
          <p:nvPr/>
        </p:nvSpPr>
        <p:spPr>
          <a:xfrm>
            <a:off x="3453231" y="3429000"/>
            <a:ext cx="2514600" cy="1051560"/>
          </a:xfrm>
          <a:prstGeom prst="roundRect">
            <a:avLst>
              <a:gd name="adj" fmla="val 14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453231" y="3584448"/>
            <a:ext cx="2514600" cy="777240"/>
          </a:xfrm>
          <a:prstGeom prst="rect">
            <a:avLst/>
          </a:prstGeom>
          <a:noFill/>
        </p:spPr>
        <p:txBody>
          <a:bodyPr wrap="square" anchor="t" lIns="0" rIns="0" tIns="0" bIns="0">
            <a:spAutoFit/>
          </a:bodyPr>
          <a:lstStyle/>
          <a:p>
            <a:pPr algn="ctr">
              <a:spcAft>
                <a:spcPts val="200"/>
              </a:spcAft>
            </a:pPr>
            <a:r>
              <a:rPr sz="1800" b="1" i="0">
                <a:solidFill>
                  <a:srgbClr val="1F2A24"/>
                </a:solidFill>
                <a:latin typeface="Calibri"/>
              </a:rPr>
              <a:t>Gattu P Tridhama</a:t>
            </a:r>
          </a:p>
          <a:p>
            <a:pPr algn="ctr">
              <a:spcAft>
                <a:spcPts val="200"/>
              </a:spcAft>
            </a:pPr>
            <a:r>
              <a:rPr sz="1500" b="0" i="0">
                <a:solidFill>
                  <a:srgbClr val="5A6B61"/>
                </a:solidFill>
                <a:latin typeface="Calibri"/>
              </a:rPr>
              <a:t>2620030337</a:t>
            </a:r>
          </a:p>
        </p:txBody>
      </p:sp>
      <p:sp>
        <p:nvSpPr>
          <p:cNvPr id="16" name="Rounded Rectangle 15"/>
          <p:cNvSpPr/>
          <p:nvPr/>
        </p:nvSpPr>
        <p:spPr>
          <a:xfrm>
            <a:off x="6223863" y="3429000"/>
            <a:ext cx="2514600" cy="1051560"/>
          </a:xfrm>
          <a:prstGeom prst="roundRect">
            <a:avLst>
              <a:gd name="adj" fmla="val 14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23863" y="3584448"/>
            <a:ext cx="2514600" cy="777240"/>
          </a:xfrm>
          <a:prstGeom prst="rect">
            <a:avLst/>
          </a:prstGeom>
          <a:noFill/>
        </p:spPr>
        <p:txBody>
          <a:bodyPr wrap="square" anchor="t" lIns="0" rIns="0" tIns="0" bIns="0">
            <a:spAutoFit/>
          </a:bodyPr>
          <a:lstStyle/>
          <a:p>
            <a:pPr algn="ctr">
              <a:spcAft>
                <a:spcPts val="200"/>
              </a:spcAft>
            </a:pPr>
            <a:r>
              <a:rPr sz="1800" b="1" i="0">
                <a:solidFill>
                  <a:srgbClr val="1F2A24"/>
                </a:solidFill>
                <a:latin typeface="Calibri"/>
              </a:rPr>
              <a:t>Yashwanth Rathan</a:t>
            </a:r>
          </a:p>
          <a:p>
            <a:pPr algn="ctr">
              <a:spcAft>
                <a:spcPts val="200"/>
              </a:spcAft>
            </a:pPr>
            <a:r>
              <a:rPr sz="1500" b="0" i="0">
                <a:solidFill>
                  <a:srgbClr val="5A6B61"/>
                </a:solidFill>
                <a:latin typeface="Calibri"/>
              </a:rPr>
              <a:t>2620030622</a:t>
            </a:r>
          </a:p>
        </p:txBody>
      </p:sp>
      <p:sp>
        <p:nvSpPr>
          <p:cNvPr id="18" name="Rounded Rectangle 17"/>
          <p:cNvSpPr/>
          <p:nvPr/>
        </p:nvSpPr>
        <p:spPr>
          <a:xfrm>
            <a:off x="8994495" y="3429000"/>
            <a:ext cx="2514600" cy="1051560"/>
          </a:xfrm>
          <a:prstGeom prst="roundRect">
            <a:avLst>
              <a:gd name="adj" fmla="val 14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94495" y="3584448"/>
            <a:ext cx="2514600" cy="777240"/>
          </a:xfrm>
          <a:prstGeom prst="rect">
            <a:avLst/>
          </a:prstGeom>
          <a:noFill/>
        </p:spPr>
        <p:txBody>
          <a:bodyPr wrap="square" anchor="t" lIns="0" rIns="0" tIns="0" bIns="0">
            <a:spAutoFit/>
          </a:bodyPr>
          <a:lstStyle/>
          <a:p>
            <a:pPr algn="ctr">
              <a:spcAft>
                <a:spcPts val="200"/>
              </a:spcAft>
            </a:pPr>
            <a:r>
              <a:rPr sz="1800" b="1" i="0">
                <a:solidFill>
                  <a:srgbClr val="1F2A24"/>
                </a:solidFill>
                <a:latin typeface="Calibri"/>
              </a:rPr>
              <a:t>B. Sri Ram Deep</a:t>
            </a:r>
          </a:p>
          <a:p>
            <a:pPr algn="ctr">
              <a:spcAft>
                <a:spcPts val="200"/>
              </a:spcAft>
            </a:pPr>
            <a:r>
              <a:rPr sz="1500" b="0" i="0">
                <a:solidFill>
                  <a:srgbClr val="5A6B61"/>
                </a:solidFill>
                <a:latin typeface="Calibri"/>
              </a:rPr>
              <a:t>2620030605</a:t>
            </a:r>
          </a:p>
        </p:txBody>
      </p:sp>
      <p:sp>
        <p:nvSpPr>
          <p:cNvPr id="20" name="TextBox 19"/>
          <p:cNvSpPr txBox="1"/>
          <p:nvPr/>
        </p:nvSpPr>
        <p:spPr>
          <a:xfrm>
            <a:off x="914400" y="4846320"/>
            <a:ext cx="10360152" cy="365760"/>
          </a:xfrm>
          <a:prstGeom prst="rect">
            <a:avLst/>
          </a:prstGeom>
          <a:noFill/>
        </p:spPr>
        <p:txBody>
          <a:bodyPr wrap="square" anchor="t" lIns="0" rIns="0" tIns="0" bIns="0">
            <a:spAutoFit/>
          </a:bodyPr>
          <a:lstStyle/>
          <a:p>
            <a:pPr algn="ctr">
              <a:spcAft>
                <a:spcPts val="400"/>
              </a:spcAft>
            </a:pPr>
            <a:r>
              <a:rPr sz="1500" b="0" i="0">
                <a:solidFill>
                  <a:srgbClr val="5A6B61"/>
                </a:solidFill>
                <a:latin typeface="Calibri"/>
              </a:rPr>
              <a:t>Problem Solving Using Programming (Java)  |  26SC1101E  |  PBL Project Review</a:t>
            </a:r>
          </a:p>
        </p:txBody>
      </p:sp>
      <p:sp>
        <p:nvSpPr>
          <p:cNvPr id="21" name="TextBox 20"/>
          <p:cNvSpPr txBox="1"/>
          <p:nvPr/>
        </p:nvSpPr>
        <p:spPr>
          <a:xfrm>
            <a:off x="914400" y="5193792"/>
            <a:ext cx="10360152" cy="365760"/>
          </a:xfrm>
          <a:prstGeom prst="rect">
            <a:avLst/>
          </a:prstGeom>
          <a:noFill/>
        </p:spPr>
        <p:txBody>
          <a:bodyPr wrap="square" anchor="t" lIns="0" rIns="0" tIns="0" bIns="0">
            <a:spAutoFit/>
          </a:bodyPr>
          <a:lstStyle/>
          <a:p>
            <a:pPr algn="ctr">
              <a:spcAft>
                <a:spcPts val="400"/>
              </a:spcAft>
            </a:pPr>
            <a:r>
              <a:rPr sz="1400" b="0" i="0">
                <a:solidFill>
                  <a:srgbClr val="5A6B61"/>
                </a:solidFill>
                <a:latin typeface="Calibri"/>
              </a:rPr>
              <a:t>Y26 I B.Tech, Section 6  |  Faculty: P Swethanagasri</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Abstract</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15-10-2026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6" name="TextBox 5"/>
          <p:cNvSpPr txBox="1"/>
          <p:nvPr/>
        </p:nvSpPr>
        <p:spPr>
          <a:xfrm>
            <a:off x="685800" y="1417320"/>
            <a:ext cx="6675120" cy="4572000"/>
          </a:xfrm>
          <a:prstGeom prst="rect">
            <a:avLst/>
          </a:prstGeom>
          <a:noFill/>
        </p:spPr>
        <p:txBody>
          <a:bodyPr wrap="square" anchor="t" lIns="0" rIns="0" tIns="0" bIns="0">
            <a:spAutoFit/>
          </a:bodyPr>
          <a:lstStyle/>
          <a:p>
            <a:pPr algn="l">
              <a:spcAft>
                <a:spcPts val="1200"/>
              </a:spcAft>
            </a:pPr>
            <a:r>
              <a:rPr sz="1600" b="0" i="0">
                <a:solidFill>
                  <a:srgbClr val="1F2A24"/>
                </a:solidFill>
                <a:latin typeface="Calibri"/>
              </a:rPr>
              <a:t>Most cities collect waste on a fixed daily route. Trucks visit every area, even when some bins are nearly empty while others overflow. This wastes fuel, time and money.</a:t>
            </a:r>
          </a:p>
          <a:p>
            <a:pPr algn="l">
              <a:spcAft>
                <a:spcPts val="1200"/>
              </a:spcAft>
            </a:pPr>
            <a:r>
              <a:rPr sz="1600" b="0" i="0">
                <a:solidFill>
                  <a:srgbClr val="1F2A24"/>
                </a:solidFill>
                <a:latin typeface="Calibri"/>
              </a:rPr>
              <a:t>Our console-based Java application records the waste (kg) collected from each area for every day of the week. It classifies bins as LOW, HALF, FULL or OVERFLOW, ranks the areas, and builds a daily collection plan that skips low bins and counts the trucks needed.</a:t>
            </a:r>
          </a:p>
          <a:p>
            <a:pPr algn="l">
              <a:spcAft>
                <a:spcPts val="1200"/>
              </a:spcAft>
            </a:pPr>
            <a:r>
              <a:rPr sz="1600" b="0" i="0">
                <a:solidFill>
                  <a:srgbClr val="1F2A24"/>
                </a:solidFill>
                <a:latin typeface="Calibri"/>
              </a:rPr>
              <a:t>Areas are modelled as Residential and Commercial objects with their own bin capacity and cost. Data is loaded from a CSV file, bad lines are handled with exceptions, reports are saved to a text file, and streams give quick insights such as overflowing areas and waste by area type.</a:t>
            </a:r>
          </a:p>
        </p:txBody>
      </p:sp>
      <p:sp>
        <p:nvSpPr>
          <p:cNvPr id="7" name="Rounded Rectangle 6"/>
          <p:cNvSpPr/>
          <p:nvPr/>
        </p:nvSpPr>
        <p:spPr>
          <a:xfrm>
            <a:off x="7863840" y="1463040"/>
            <a:ext cx="3749039" cy="1234440"/>
          </a:xfrm>
          <a:prstGeom prst="roundRect">
            <a:avLst>
              <a:gd name="adj" fmla="val 14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92440" y="1764792"/>
            <a:ext cx="621792" cy="621792"/>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st_w.png"/>
          <p:cNvPicPr>
            <a:picLocks noChangeAspect="1"/>
          </p:cNvPicPr>
          <p:nvPr/>
        </p:nvPicPr>
        <p:blipFill>
          <a:blip r:embed="rId2"/>
          <a:stretch>
            <a:fillRect/>
          </a:stretch>
        </p:blipFill>
        <p:spPr>
          <a:xfrm>
            <a:off x="8241670" y="1914022"/>
            <a:ext cx="323331" cy="323331"/>
          </a:xfrm>
          <a:prstGeom prst="rect">
            <a:avLst/>
          </a:prstGeom>
        </p:spPr>
      </p:pic>
      <p:sp>
        <p:nvSpPr>
          <p:cNvPr id="10" name="TextBox 9"/>
          <p:cNvSpPr txBox="1"/>
          <p:nvPr/>
        </p:nvSpPr>
        <p:spPr>
          <a:xfrm>
            <a:off x="8915400" y="1572768"/>
            <a:ext cx="2606040" cy="1005840"/>
          </a:xfrm>
          <a:prstGeom prst="rect">
            <a:avLst/>
          </a:prstGeom>
          <a:noFill/>
        </p:spPr>
        <p:txBody>
          <a:bodyPr wrap="square" anchor="ctr" lIns="0" rIns="0" tIns="0" bIns="0">
            <a:spAutoFit/>
          </a:bodyPr>
          <a:lstStyle/>
          <a:p>
            <a:pPr algn="l">
              <a:spcAft>
                <a:spcPts val="0"/>
              </a:spcAft>
            </a:pPr>
            <a:r>
              <a:rPr sz="4000" b="1" i="0">
                <a:solidFill>
                  <a:srgbClr val="124A28"/>
                </a:solidFill>
                <a:latin typeface="Calibri"/>
              </a:rPr>
              <a:t>11</a:t>
            </a:r>
          </a:p>
          <a:p>
            <a:pPr algn="l">
              <a:spcAft>
                <a:spcPts val="0"/>
              </a:spcAft>
            </a:pPr>
            <a:r>
              <a:rPr sz="1400" b="0" i="0">
                <a:solidFill>
                  <a:srgbClr val="5A6B61"/>
                </a:solidFill>
                <a:latin typeface="Calibri"/>
              </a:rPr>
              <a:t>menu features</a:t>
            </a:r>
          </a:p>
        </p:txBody>
      </p:sp>
      <p:sp>
        <p:nvSpPr>
          <p:cNvPr id="11" name="Rounded Rectangle 10"/>
          <p:cNvSpPr/>
          <p:nvPr/>
        </p:nvSpPr>
        <p:spPr>
          <a:xfrm>
            <a:off x="7863840" y="2944368"/>
            <a:ext cx="3749039" cy="1234440"/>
          </a:xfrm>
          <a:prstGeom prst="roundRect">
            <a:avLst>
              <a:gd name="adj" fmla="val 14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092440" y="3246120"/>
            <a:ext cx="621792" cy="621792"/>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w.png"/>
          <p:cNvPicPr>
            <a:picLocks noChangeAspect="1"/>
          </p:cNvPicPr>
          <p:nvPr/>
        </p:nvPicPr>
        <p:blipFill>
          <a:blip r:embed="rId3"/>
          <a:stretch>
            <a:fillRect/>
          </a:stretch>
        </p:blipFill>
        <p:spPr>
          <a:xfrm>
            <a:off x="8241670" y="3395350"/>
            <a:ext cx="323331" cy="323331"/>
          </a:xfrm>
          <a:prstGeom prst="rect">
            <a:avLst/>
          </a:prstGeom>
        </p:spPr>
      </p:pic>
      <p:sp>
        <p:nvSpPr>
          <p:cNvPr id="14" name="TextBox 13"/>
          <p:cNvSpPr txBox="1"/>
          <p:nvPr/>
        </p:nvSpPr>
        <p:spPr>
          <a:xfrm>
            <a:off x="8915400" y="3054096"/>
            <a:ext cx="2606040" cy="1005840"/>
          </a:xfrm>
          <a:prstGeom prst="rect">
            <a:avLst/>
          </a:prstGeom>
          <a:noFill/>
        </p:spPr>
        <p:txBody>
          <a:bodyPr wrap="square" anchor="ctr" lIns="0" rIns="0" tIns="0" bIns="0">
            <a:spAutoFit/>
          </a:bodyPr>
          <a:lstStyle/>
          <a:p>
            <a:pPr algn="l">
              <a:spcAft>
                <a:spcPts val="0"/>
              </a:spcAft>
            </a:pPr>
            <a:r>
              <a:rPr sz="4000" b="1" i="0">
                <a:solidFill>
                  <a:srgbClr val="124A28"/>
                </a:solidFill>
                <a:latin typeface="Calibri"/>
              </a:rPr>
              <a:t>6</a:t>
            </a:r>
          </a:p>
          <a:p>
            <a:pPr algn="l">
              <a:spcAft>
                <a:spcPts val="0"/>
              </a:spcAft>
            </a:pPr>
            <a:r>
              <a:rPr sz="1400" b="0" i="0">
                <a:solidFill>
                  <a:srgbClr val="5A6B61"/>
                </a:solidFill>
                <a:latin typeface="Calibri"/>
              </a:rPr>
              <a:t>course outcomes applied</a:t>
            </a:r>
          </a:p>
        </p:txBody>
      </p:sp>
      <p:sp>
        <p:nvSpPr>
          <p:cNvPr id="15" name="Rounded Rectangle 14"/>
          <p:cNvSpPr/>
          <p:nvPr/>
        </p:nvSpPr>
        <p:spPr>
          <a:xfrm>
            <a:off x="7863840" y="4425696"/>
            <a:ext cx="3749039" cy="1234440"/>
          </a:xfrm>
          <a:prstGeom prst="roundRect">
            <a:avLst>
              <a:gd name="adj" fmla="val 14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092440" y="4727448"/>
            <a:ext cx="621792" cy="621792"/>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ubes_w.png"/>
          <p:cNvPicPr>
            <a:picLocks noChangeAspect="1"/>
          </p:cNvPicPr>
          <p:nvPr/>
        </p:nvPicPr>
        <p:blipFill>
          <a:blip r:embed="rId4"/>
          <a:stretch>
            <a:fillRect/>
          </a:stretch>
        </p:blipFill>
        <p:spPr>
          <a:xfrm>
            <a:off x="8241670" y="4876678"/>
            <a:ext cx="323331" cy="323331"/>
          </a:xfrm>
          <a:prstGeom prst="rect">
            <a:avLst/>
          </a:prstGeom>
        </p:spPr>
      </p:pic>
      <p:sp>
        <p:nvSpPr>
          <p:cNvPr id="18" name="TextBox 17"/>
          <p:cNvSpPr txBox="1"/>
          <p:nvPr/>
        </p:nvSpPr>
        <p:spPr>
          <a:xfrm>
            <a:off x="8915400" y="4535424"/>
            <a:ext cx="2606040" cy="1005840"/>
          </a:xfrm>
          <a:prstGeom prst="rect">
            <a:avLst/>
          </a:prstGeom>
          <a:noFill/>
        </p:spPr>
        <p:txBody>
          <a:bodyPr wrap="square" anchor="ctr" lIns="0" rIns="0" tIns="0" bIns="0">
            <a:spAutoFit/>
          </a:bodyPr>
          <a:lstStyle/>
          <a:p>
            <a:pPr algn="l">
              <a:spcAft>
                <a:spcPts val="0"/>
              </a:spcAft>
            </a:pPr>
            <a:r>
              <a:rPr sz="4000" b="1" i="0">
                <a:solidFill>
                  <a:srgbClr val="124A28"/>
                </a:solidFill>
                <a:latin typeface="Calibri"/>
              </a:rPr>
              <a:t>5</a:t>
            </a:r>
          </a:p>
          <a:p>
            <a:pPr algn="l">
              <a:spcAft>
                <a:spcPts val="0"/>
              </a:spcAft>
            </a:pPr>
            <a:r>
              <a:rPr sz="1400" b="0" i="0">
                <a:solidFill>
                  <a:srgbClr val="5A6B61"/>
                </a:solidFill>
                <a:latin typeface="Calibri"/>
              </a:rPr>
              <a:t>classes and 1 interface</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Understanding Problem Statement</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15-10-2026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
        <p:nvSpPr>
          <p:cNvPr id="6" name="TextBox 5"/>
          <p:cNvSpPr txBox="1"/>
          <p:nvPr/>
        </p:nvSpPr>
        <p:spPr>
          <a:xfrm>
            <a:off x="685800" y="1325880"/>
            <a:ext cx="10789920" cy="731520"/>
          </a:xfrm>
          <a:prstGeom prst="rect">
            <a:avLst/>
          </a:prstGeom>
          <a:noFill/>
        </p:spPr>
        <p:txBody>
          <a:bodyPr wrap="square" anchor="t" lIns="0" rIns="0" tIns="0" bIns="0">
            <a:spAutoFit/>
          </a:bodyPr>
          <a:lstStyle/>
          <a:p>
            <a:pPr algn="l">
              <a:spcAft>
                <a:spcPts val="400"/>
              </a:spcAft>
            </a:pPr>
            <a:r>
              <a:rPr sz="1700" b="1" i="0">
                <a:solidFill>
                  <a:srgbClr val="124A28"/>
                </a:solidFill>
                <a:latin typeface="Calibri"/>
              </a:rPr>
              <a:t>Goal: </a:t>
            </a:r>
            <a:r>
              <a:rPr sz="1700" b="0" i="0">
                <a:solidFill>
                  <a:srgbClr val="1F2A24"/>
                </a:solidFill>
                <a:latin typeface="Calibri"/>
              </a:rPr>
              <a:t>use the waste data of each area to decide where trucks are really needed, instead of sending them everywhere every day.</a:t>
            </a:r>
          </a:p>
        </p:txBody>
      </p:sp>
      <p:sp>
        <p:nvSpPr>
          <p:cNvPr id="7" name="Rounded Rectangle 6"/>
          <p:cNvSpPr/>
          <p:nvPr/>
        </p:nvSpPr>
        <p:spPr>
          <a:xfrm>
            <a:off x="685800" y="2103120"/>
            <a:ext cx="3383280" cy="1783080"/>
          </a:xfrm>
          <a:prstGeom prst="roundRect">
            <a:avLst>
              <a:gd name="adj" fmla="val 10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2286000"/>
            <a:ext cx="566928" cy="566928"/>
          </a:xfrm>
          <a:prstGeom prst="ellipse">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ruck_w.png"/>
          <p:cNvPicPr>
            <a:picLocks noChangeAspect="1"/>
          </p:cNvPicPr>
          <p:nvPr/>
        </p:nvPicPr>
        <p:blipFill>
          <a:blip r:embed="rId2"/>
          <a:stretch>
            <a:fillRect/>
          </a:stretch>
        </p:blipFill>
        <p:spPr>
          <a:xfrm>
            <a:off x="1050462" y="2422062"/>
            <a:ext cx="294802" cy="294802"/>
          </a:xfrm>
          <a:prstGeom prst="rect">
            <a:avLst/>
          </a:prstGeom>
        </p:spPr>
      </p:pic>
      <p:sp>
        <p:nvSpPr>
          <p:cNvPr id="10" name="TextBox 9"/>
          <p:cNvSpPr txBox="1"/>
          <p:nvPr/>
        </p:nvSpPr>
        <p:spPr>
          <a:xfrm>
            <a:off x="1645920" y="2286000"/>
            <a:ext cx="2286000" cy="566928"/>
          </a:xfrm>
          <a:prstGeom prst="rect">
            <a:avLst/>
          </a:prstGeom>
          <a:noFill/>
        </p:spPr>
        <p:txBody>
          <a:bodyPr wrap="square" anchor="ctr" lIns="0" rIns="0" tIns="0" bIns="0">
            <a:spAutoFit/>
          </a:bodyPr>
          <a:lstStyle/>
          <a:p>
            <a:pPr algn="l">
              <a:spcAft>
                <a:spcPts val="400"/>
              </a:spcAft>
            </a:pPr>
            <a:r>
              <a:rPr sz="1700" b="1" i="0">
                <a:solidFill>
                  <a:srgbClr val="1F2A24"/>
                </a:solidFill>
                <a:latin typeface="Calibri"/>
              </a:rPr>
              <a:t>Fixed routes</a:t>
            </a:r>
          </a:p>
        </p:txBody>
      </p:sp>
      <p:sp>
        <p:nvSpPr>
          <p:cNvPr id="11" name="TextBox 10"/>
          <p:cNvSpPr txBox="1"/>
          <p:nvPr/>
        </p:nvSpPr>
        <p:spPr>
          <a:xfrm>
            <a:off x="914400" y="2971800"/>
            <a:ext cx="2971800" cy="868680"/>
          </a:xfrm>
          <a:prstGeom prst="rect">
            <a:avLst/>
          </a:prstGeom>
          <a:noFill/>
        </p:spPr>
        <p:txBody>
          <a:bodyPr wrap="square" anchor="t" lIns="0" rIns="0" tIns="0" bIns="0">
            <a:spAutoFit/>
          </a:bodyPr>
          <a:lstStyle/>
          <a:p>
            <a:pPr algn="l">
              <a:spcAft>
                <a:spcPts val="400"/>
              </a:spcAft>
            </a:pPr>
            <a:r>
              <a:rPr sz="1400" b="0" i="0">
                <a:solidFill>
                  <a:srgbClr val="5A6B61"/>
                </a:solidFill>
                <a:latin typeface="Calibri"/>
              </a:rPr>
              <a:t>Trucks visit every area daily, even half-empty ones, wasting fuel and time.</a:t>
            </a:r>
          </a:p>
        </p:txBody>
      </p:sp>
      <p:sp>
        <p:nvSpPr>
          <p:cNvPr id="12" name="Rounded Rectangle 11"/>
          <p:cNvSpPr/>
          <p:nvPr/>
        </p:nvSpPr>
        <p:spPr>
          <a:xfrm>
            <a:off x="4343400" y="2103120"/>
            <a:ext cx="3383280" cy="1783080"/>
          </a:xfrm>
          <a:prstGeom prst="roundRect">
            <a:avLst>
              <a:gd name="adj" fmla="val 10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72000" y="2286000"/>
            <a:ext cx="566928" cy="566928"/>
          </a:xfrm>
          <a:prstGeom prst="ellipse">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rash_w.png"/>
          <p:cNvPicPr>
            <a:picLocks noChangeAspect="1"/>
          </p:cNvPicPr>
          <p:nvPr/>
        </p:nvPicPr>
        <p:blipFill>
          <a:blip r:embed="rId3"/>
          <a:stretch>
            <a:fillRect/>
          </a:stretch>
        </p:blipFill>
        <p:spPr>
          <a:xfrm>
            <a:off x="4708062" y="2422062"/>
            <a:ext cx="294802" cy="294802"/>
          </a:xfrm>
          <a:prstGeom prst="rect">
            <a:avLst/>
          </a:prstGeom>
        </p:spPr>
      </p:pic>
      <p:sp>
        <p:nvSpPr>
          <p:cNvPr id="15" name="TextBox 14"/>
          <p:cNvSpPr txBox="1"/>
          <p:nvPr/>
        </p:nvSpPr>
        <p:spPr>
          <a:xfrm>
            <a:off x="5303520" y="2286000"/>
            <a:ext cx="2286000" cy="566928"/>
          </a:xfrm>
          <a:prstGeom prst="rect">
            <a:avLst/>
          </a:prstGeom>
          <a:noFill/>
        </p:spPr>
        <p:txBody>
          <a:bodyPr wrap="square" anchor="ctr" lIns="0" rIns="0" tIns="0" bIns="0">
            <a:spAutoFit/>
          </a:bodyPr>
          <a:lstStyle/>
          <a:p>
            <a:pPr algn="l">
              <a:spcAft>
                <a:spcPts val="400"/>
              </a:spcAft>
            </a:pPr>
            <a:r>
              <a:rPr sz="1700" b="1" i="0">
                <a:solidFill>
                  <a:srgbClr val="1F2A24"/>
                </a:solidFill>
                <a:latin typeface="Calibri"/>
              </a:rPr>
              <a:t>Overflowing bins</a:t>
            </a:r>
          </a:p>
        </p:txBody>
      </p:sp>
      <p:sp>
        <p:nvSpPr>
          <p:cNvPr id="16" name="TextBox 15"/>
          <p:cNvSpPr txBox="1"/>
          <p:nvPr/>
        </p:nvSpPr>
        <p:spPr>
          <a:xfrm>
            <a:off x="4572000" y="2971800"/>
            <a:ext cx="2971800" cy="868680"/>
          </a:xfrm>
          <a:prstGeom prst="rect">
            <a:avLst/>
          </a:prstGeom>
          <a:noFill/>
        </p:spPr>
        <p:txBody>
          <a:bodyPr wrap="square" anchor="t" lIns="0" rIns="0" tIns="0" bIns="0">
            <a:spAutoFit/>
          </a:bodyPr>
          <a:lstStyle/>
          <a:p>
            <a:pPr algn="l">
              <a:spcAft>
                <a:spcPts val="400"/>
              </a:spcAft>
            </a:pPr>
            <a:r>
              <a:rPr sz="1400" b="0" i="0">
                <a:solidFill>
                  <a:srgbClr val="5A6B61"/>
                </a:solidFill>
                <a:latin typeface="Calibri"/>
              </a:rPr>
              <a:t>Busy areas like markets fill up first and are left unattended.</a:t>
            </a:r>
          </a:p>
        </p:txBody>
      </p:sp>
      <p:sp>
        <p:nvSpPr>
          <p:cNvPr id="17" name="Rounded Rectangle 16"/>
          <p:cNvSpPr/>
          <p:nvPr/>
        </p:nvSpPr>
        <p:spPr>
          <a:xfrm>
            <a:off x="8001000" y="2103120"/>
            <a:ext cx="3383280" cy="1783080"/>
          </a:xfrm>
          <a:prstGeom prst="roundRect">
            <a:avLst>
              <a:gd name="adj" fmla="val 10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29600" y="2286000"/>
            <a:ext cx="566928" cy="566928"/>
          </a:xfrm>
          <a:prstGeom prst="ellipse">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art_w.png"/>
          <p:cNvPicPr>
            <a:picLocks noChangeAspect="1"/>
          </p:cNvPicPr>
          <p:nvPr/>
        </p:nvPicPr>
        <p:blipFill>
          <a:blip r:embed="rId4"/>
          <a:stretch>
            <a:fillRect/>
          </a:stretch>
        </p:blipFill>
        <p:spPr>
          <a:xfrm>
            <a:off x="8365662" y="2422062"/>
            <a:ext cx="294802" cy="294802"/>
          </a:xfrm>
          <a:prstGeom prst="rect">
            <a:avLst/>
          </a:prstGeom>
        </p:spPr>
      </p:pic>
      <p:sp>
        <p:nvSpPr>
          <p:cNvPr id="20" name="TextBox 19"/>
          <p:cNvSpPr txBox="1"/>
          <p:nvPr/>
        </p:nvSpPr>
        <p:spPr>
          <a:xfrm>
            <a:off x="8961120" y="2286000"/>
            <a:ext cx="2286000" cy="566928"/>
          </a:xfrm>
          <a:prstGeom prst="rect">
            <a:avLst/>
          </a:prstGeom>
          <a:noFill/>
        </p:spPr>
        <p:txBody>
          <a:bodyPr wrap="square" anchor="ctr" lIns="0" rIns="0" tIns="0" bIns="0">
            <a:spAutoFit/>
          </a:bodyPr>
          <a:lstStyle/>
          <a:p>
            <a:pPr algn="l">
              <a:spcAft>
                <a:spcPts val="400"/>
              </a:spcAft>
            </a:pPr>
            <a:r>
              <a:rPr sz="1700" b="1" i="0">
                <a:solidFill>
                  <a:srgbClr val="1F2A24"/>
                </a:solidFill>
                <a:latin typeface="Calibri"/>
              </a:rPr>
              <a:t>No data</a:t>
            </a:r>
          </a:p>
        </p:txBody>
      </p:sp>
      <p:sp>
        <p:nvSpPr>
          <p:cNvPr id="21" name="TextBox 20"/>
          <p:cNvSpPr txBox="1"/>
          <p:nvPr/>
        </p:nvSpPr>
        <p:spPr>
          <a:xfrm>
            <a:off x="8229600" y="2971800"/>
            <a:ext cx="2971800" cy="868680"/>
          </a:xfrm>
          <a:prstGeom prst="rect">
            <a:avLst/>
          </a:prstGeom>
          <a:noFill/>
        </p:spPr>
        <p:txBody>
          <a:bodyPr wrap="square" anchor="t" lIns="0" rIns="0" tIns="0" bIns="0">
            <a:spAutoFit/>
          </a:bodyPr>
          <a:lstStyle/>
          <a:p>
            <a:pPr algn="l">
              <a:spcAft>
                <a:spcPts val="400"/>
              </a:spcAft>
            </a:pPr>
            <a:r>
              <a:rPr sz="1400" b="0" i="0">
                <a:solidFill>
                  <a:srgbClr val="5A6B61"/>
                </a:solidFill>
                <a:latin typeface="Calibri"/>
              </a:rPr>
              <a:t>Supervisors cannot see which areas or days produce the most waste.</a:t>
            </a:r>
          </a:p>
        </p:txBody>
      </p:sp>
      <p:sp>
        <p:nvSpPr>
          <p:cNvPr id="22" name="Rounded Rectangle 21"/>
          <p:cNvSpPr/>
          <p:nvPr/>
        </p:nvSpPr>
        <p:spPr>
          <a:xfrm>
            <a:off x="685800" y="4206240"/>
            <a:ext cx="3154680" cy="1600200"/>
          </a:xfrm>
          <a:prstGeom prst="roundRect">
            <a:avLst>
              <a:gd name="adj" fmla="val 12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4343400"/>
            <a:ext cx="2743200" cy="365760"/>
          </a:xfrm>
          <a:prstGeom prst="rect">
            <a:avLst/>
          </a:prstGeom>
          <a:noFill/>
        </p:spPr>
        <p:txBody>
          <a:bodyPr wrap="square" anchor="t" lIns="0" rIns="0" tIns="0" bIns="0">
            <a:spAutoFit/>
          </a:bodyPr>
          <a:lstStyle/>
          <a:p>
            <a:pPr algn="l">
              <a:spcAft>
                <a:spcPts val="400"/>
              </a:spcAft>
            </a:pPr>
            <a:r>
              <a:rPr sz="1500" b="1" i="0">
                <a:solidFill>
                  <a:srgbClr val="124A28"/>
                </a:solidFill>
                <a:latin typeface="Calibri"/>
              </a:rPr>
              <a:t>INPUT</a:t>
            </a:r>
          </a:p>
        </p:txBody>
      </p:sp>
      <p:sp>
        <p:nvSpPr>
          <p:cNvPr id="24" name="TextBox 23"/>
          <p:cNvSpPr txBox="1"/>
          <p:nvPr/>
        </p:nvSpPr>
        <p:spPr>
          <a:xfrm>
            <a:off x="914400" y="4754880"/>
            <a:ext cx="2788920" cy="960120"/>
          </a:xfrm>
          <a:prstGeom prst="rect">
            <a:avLst/>
          </a:prstGeom>
          <a:noFill/>
        </p:spPr>
        <p:txBody>
          <a:bodyPr wrap="square" anchor="t" lIns="0" rIns="0" tIns="0" bIns="0">
            <a:spAutoFit/>
          </a:bodyPr>
          <a:lstStyle/>
          <a:p>
            <a:pPr algn="l">
              <a:spcAft>
                <a:spcPts val="400"/>
              </a:spcAft>
            </a:pPr>
            <a:r>
              <a:rPr sz="1400" b="0" i="0">
                <a:solidFill>
                  <a:srgbClr val="1F2A24"/>
                </a:solidFill>
                <a:latin typeface="Calibri"/>
              </a:rPr>
              <a:t>Area name and type, day,
waste in kg (keyboard or CSV)</a:t>
            </a:r>
          </a:p>
        </p:txBody>
      </p:sp>
      <p:sp>
        <p:nvSpPr>
          <p:cNvPr id="25" name="Right Arrow 24"/>
          <p:cNvSpPr/>
          <p:nvPr/>
        </p:nvSpPr>
        <p:spPr>
          <a:xfrm>
            <a:off x="3913631" y="4846320"/>
            <a:ext cx="365760" cy="329184"/>
          </a:xfrm>
          <a:prstGeom prst="rightArrow">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43400" y="4206240"/>
            <a:ext cx="3154680" cy="1600200"/>
          </a:xfrm>
          <a:prstGeom prst="roundRect">
            <a:avLst>
              <a:gd name="adj" fmla="val 12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0" y="4343400"/>
            <a:ext cx="2743200" cy="365760"/>
          </a:xfrm>
          <a:prstGeom prst="rect">
            <a:avLst/>
          </a:prstGeom>
          <a:noFill/>
        </p:spPr>
        <p:txBody>
          <a:bodyPr wrap="square" anchor="t" lIns="0" rIns="0" tIns="0" bIns="0">
            <a:spAutoFit/>
          </a:bodyPr>
          <a:lstStyle/>
          <a:p>
            <a:pPr algn="l">
              <a:spcAft>
                <a:spcPts val="400"/>
              </a:spcAft>
            </a:pPr>
            <a:r>
              <a:rPr sz="1500" b="1" i="0">
                <a:solidFill>
                  <a:srgbClr val="FFFFFF"/>
                </a:solidFill>
                <a:latin typeface="Calibri"/>
              </a:rPr>
              <a:t>PROCESS</a:t>
            </a:r>
          </a:p>
        </p:txBody>
      </p:sp>
      <p:sp>
        <p:nvSpPr>
          <p:cNvPr id="28" name="TextBox 27"/>
          <p:cNvSpPr txBox="1"/>
          <p:nvPr/>
        </p:nvSpPr>
        <p:spPr>
          <a:xfrm>
            <a:off x="4572000" y="4754880"/>
            <a:ext cx="2788920" cy="960120"/>
          </a:xfrm>
          <a:prstGeom prst="rect">
            <a:avLst/>
          </a:prstGeom>
          <a:noFill/>
        </p:spPr>
        <p:txBody>
          <a:bodyPr wrap="square" anchor="t" lIns="0" rIns="0" tIns="0" bIns="0">
            <a:spAutoFit/>
          </a:bodyPr>
          <a:lstStyle/>
          <a:p>
            <a:pPr algn="l">
              <a:spcAft>
                <a:spcPts val="400"/>
              </a:spcAft>
            </a:pPr>
            <a:r>
              <a:rPr sz="1400" b="0" i="0">
                <a:solidFill>
                  <a:srgbClr val="FFFFFF"/>
                </a:solidFill>
                <a:latin typeface="Calibri"/>
              </a:rPr>
              <a:t>Fill %, bin status, totals,
ranking, trucks, cost</a:t>
            </a:r>
          </a:p>
        </p:txBody>
      </p:sp>
      <p:sp>
        <p:nvSpPr>
          <p:cNvPr id="29" name="Right Arrow 28"/>
          <p:cNvSpPr/>
          <p:nvPr/>
        </p:nvSpPr>
        <p:spPr>
          <a:xfrm>
            <a:off x="7571231" y="4846320"/>
            <a:ext cx="365760" cy="329184"/>
          </a:xfrm>
          <a:prstGeom prst="rightArrow">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01000" y="4206240"/>
            <a:ext cx="3154680" cy="1600200"/>
          </a:xfrm>
          <a:prstGeom prst="roundRect">
            <a:avLst>
              <a:gd name="adj" fmla="val 12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600" y="4343400"/>
            <a:ext cx="2743200" cy="365760"/>
          </a:xfrm>
          <a:prstGeom prst="rect">
            <a:avLst/>
          </a:prstGeom>
          <a:noFill/>
        </p:spPr>
        <p:txBody>
          <a:bodyPr wrap="square" anchor="t" lIns="0" rIns="0" tIns="0" bIns="0">
            <a:spAutoFit/>
          </a:bodyPr>
          <a:lstStyle/>
          <a:p>
            <a:pPr algn="l">
              <a:spcAft>
                <a:spcPts val="400"/>
              </a:spcAft>
            </a:pPr>
            <a:r>
              <a:rPr sz="1500" b="1" i="0">
                <a:solidFill>
                  <a:srgbClr val="124A28"/>
                </a:solidFill>
                <a:latin typeface="Calibri"/>
              </a:rPr>
              <a:t>OUTPUT</a:t>
            </a:r>
          </a:p>
        </p:txBody>
      </p:sp>
      <p:sp>
        <p:nvSpPr>
          <p:cNvPr id="32" name="TextBox 31"/>
          <p:cNvSpPr txBox="1"/>
          <p:nvPr/>
        </p:nvSpPr>
        <p:spPr>
          <a:xfrm>
            <a:off x="8229600" y="4754880"/>
            <a:ext cx="2788920" cy="960120"/>
          </a:xfrm>
          <a:prstGeom prst="rect">
            <a:avLst/>
          </a:prstGeom>
          <a:noFill/>
        </p:spPr>
        <p:txBody>
          <a:bodyPr wrap="square" anchor="t" lIns="0" rIns="0" tIns="0" bIns="0">
            <a:spAutoFit/>
          </a:bodyPr>
          <a:lstStyle/>
          <a:p>
            <a:pPr algn="l">
              <a:spcAft>
                <a:spcPts val="400"/>
              </a:spcAft>
            </a:pPr>
            <a:r>
              <a:rPr sz="1400" b="0" i="0">
                <a:solidFill>
                  <a:srgbClr val="1F2A24"/>
                </a:solidFill>
                <a:latin typeface="Calibri"/>
              </a:rPr>
              <a:t>Weekly report, collection
plan, insights, report file</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1 Topics: </a:t>
            </a:r>
            <a:r>
              <a:rPr sz="3400" b="1">
                <a:solidFill>
                  <a:srgbClr val="E88B1E"/>
                </a:solidFill>
                <a:latin typeface="Calibri"/>
              </a:rPr>
              <a:t>Java Foundations</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15-10-2026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CO1</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Translate a real-world problem into a precise algorithm and a working Java program using primitive types, expressions, and sequential console I/O.</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ghtbulb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Algorithm and IPO model</a:t>
            </a:r>
          </a:p>
          <a:p>
            <a:pPr algn="l">
              <a:spcAft>
                <a:spcPts val="100"/>
              </a:spcAft>
            </a:pPr>
            <a:r>
              <a:rPr sz="1400" b="0" i="0">
                <a:solidFill>
                  <a:srgbClr val="1F2A24"/>
                </a:solidFill>
                <a:latin typeface="Calibri"/>
              </a:rPr>
              <a:t>Input waste in kg, process fill %, output bin status</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able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Variables, constants, data types</a:t>
            </a:r>
          </a:p>
          <a:p>
            <a:pPr algn="l">
              <a:spcAft>
                <a:spcPts val="100"/>
              </a:spcAft>
            </a:pPr>
            <a:r>
              <a:rPr sz="1400" b="0" i="0">
                <a:solidFill>
                  <a:srgbClr val="1F2A24"/>
                </a:solidFill>
                <a:latin typeface="Calibri"/>
              </a:rPr>
              <a:t>int for kg, double for cost and %, String for names</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gs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Operators and expressions</a:t>
            </a:r>
          </a:p>
          <a:p>
            <a:pPr algn="l">
              <a:spcAft>
                <a:spcPts val="100"/>
              </a:spcAft>
            </a:pPr>
            <a:r>
              <a:rPr sz="1400" b="0" i="0">
                <a:solidFill>
                  <a:srgbClr val="1F2A24"/>
                </a:solidFill>
                <a:latin typeface="Calibri"/>
              </a:rPr>
              <a:t>Arithmetic, relational and logical (d &lt; 1 || d &gt; 7)</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random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Type casting</a:t>
            </a:r>
          </a:p>
          <a:p>
            <a:pPr algn="l">
              <a:spcAft>
                <a:spcPts val="100"/>
              </a:spcAft>
            </a:pPr>
            <a:r>
              <a:rPr sz="1400" b="0" i="0">
                <a:solidFill>
                  <a:srgbClr val="1F2A24"/>
                </a:solidFill>
                <a:latin typeface="Calibri"/>
              </a:rPr>
              <a:t>(double) kg * 100 / capacity avoids integer division</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eyboard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Console I/O with Scanner</a:t>
            </a:r>
          </a:p>
          <a:p>
            <a:pPr algn="l">
              <a:spcAft>
                <a:spcPts val="100"/>
              </a:spcAft>
            </a:pPr>
            <a:r>
              <a:rPr sz="1400" b="0" i="0">
                <a:solidFill>
                  <a:srgbClr val="1F2A24"/>
                </a:solidFill>
                <a:latin typeface="Calibri"/>
              </a:rPr>
              <a:t>readInt() and readDay() read menu choice, day and kg</a:t>
            </a:r>
          </a:p>
        </p:txBody>
      </p:sp>
      <p:sp>
        <p:nvSpPr>
          <p:cNvPr id="24" name="Rounded Rectangle 23"/>
          <p:cNvSpPr/>
          <p:nvPr/>
        </p:nvSpPr>
        <p:spPr>
          <a:xfrm>
            <a:off x="6263640" y="2240280"/>
            <a:ext cx="5376672" cy="3886200"/>
          </a:xfrm>
          <a:prstGeom prst="roundRect">
            <a:avLst>
              <a:gd name="adj" fmla="val 4000"/>
            </a:avLst>
          </a:prstGeom>
          <a:solidFill>
            <a:srgbClr val="0F1A14"/>
          </a:solidFill>
          <a:ln>
            <a:no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63640" y="2240280"/>
            <a:ext cx="5376672" cy="329184"/>
          </a:xfrm>
          <a:prstGeom prst="roundRect">
            <a:avLst>
              <a:gd name="adj" fmla="val 30000"/>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63640" y="2404872"/>
            <a:ext cx="5376672" cy="164592"/>
          </a:xfrm>
          <a:prstGeom prst="rect">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9944" y="2340864"/>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92824" y="2340864"/>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75704" y="2340864"/>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0879" y="2276856"/>
            <a:ext cx="4462272" cy="256032"/>
          </a:xfrm>
          <a:prstGeom prst="rect">
            <a:avLst/>
          </a:prstGeom>
          <a:noFill/>
        </p:spPr>
        <p:txBody>
          <a:bodyPr wrap="square" anchor="ctr" lIns="0" rIns="0" tIns="0" bIns="0">
            <a:spAutoFit/>
          </a:bodyPr>
          <a:lstStyle/>
          <a:p>
            <a:pPr algn="l">
              <a:spcAft>
                <a:spcPts val="400"/>
              </a:spcAft>
            </a:pPr>
            <a:r>
              <a:rPr sz="1100" b="0" i="0">
                <a:solidFill>
                  <a:srgbClr val="A9C2B4"/>
                </a:solidFill>
                <a:latin typeface="Consolas"/>
              </a:rPr>
              <a:t>CO1  |  data types, casting, Scanner</a:t>
            </a:r>
          </a:p>
        </p:txBody>
      </p:sp>
      <p:sp>
        <p:nvSpPr>
          <p:cNvPr id="31" name="TextBox 30"/>
          <p:cNvSpPr txBox="1"/>
          <p:nvPr/>
        </p:nvSpPr>
        <p:spPr>
          <a:xfrm>
            <a:off x="6464807" y="2697480"/>
            <a:ext cx="5010912" cy="3337560"/>
          </a:xfrm>
          <a:prstGeom prst="rect">
            <a:avLst/>
          </a:prstGeom>
          <a:noFill/>
        </p:spPr>
        <p:txBody>
          <a:bodyPr wrap="square" lIns="0" rIns="0" tIns="0" bIns="0">
            <a:spAutoFit/>
          </a:bodyPr>
          <a:lstStyle/>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final</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TRUCK_CAPACITY = 1000;</a:t>
            </a:r>
          </a:p>
          <a:p>
            <a:pPr>
              <a:lnSpc>
                <a:spcPct val="100000"/>
              </a:lnSpc>
            </a:pPr>
            <a:r>
              <a:rPr sz="1200">
                <a:solidFill>
                  <a:srgbClr val="FFFFFF"/>
                </a:solidFill>
                <a:latin typeface="Consolas"/>
              </a:rPr>
              <a:t> </a:t>
            </a:r>
          </a:p>
          <a:p>
            <a:pPr>
              <a:lnSpc>
                <a:spcPct val="100000"/>
              </a:lnSpc>
            </a:pPr>
            <a:r>
              <a:rPr sz="1200">
                <a:solidFill>
                  <a:srgbClr val="7FD6A0"/>
                </a:solidFill>
                <a:latin typeface="Consolas"/>
              </a:rPr>
              <a:t>public</a:t>
            </a:r>
            <a:r>
              <a:rPr sz="1200">
                <a:solidFill>
                  <a:srgbClr val="E6EDE8"/>
                </a:solidFill>
                <a:latin typeface="Consolas"/>
              </a:rPr>
              <a:t> </a:t>
            </a:r>
            <a:r>
              <a:rPr sz="1200">
                <a:solidFill>
                  <a:srgbClr val="7FD6A0"/>
                </a:solidFill>
                <a:latin typeface="Consolas"/>
              </a:rPr>
              <a:t>double</a:t>
            </a:r>
            <a:r>
              <a:rPr sz="1200">
                <a:solidFill>
                  <a:srgbClr val="E6EDE8"/>
                </a:solidFill>
                <a:latin typeface="Consolas"/>
              </a:rPr>
              <a:t> fillPercent(</a:t>
            </a:r>
            <a:r>
              <a:rPr sz="1200">
                <a:solidFill>
                  <a:srgbClr val="7FD6A0"/>
                </a:solidFill>
                <a:latin typeface="Consolas"/>
              </a:rPr>
              <a:t>int</a:t>
            </a:r>
            <a:r>
              <a:rPr sz="1200">
                <a:solidFill>
                  <a:srgbClr val="E6EDE8"/>
                </a:solidFill>
                <a:latin typeface="Consolas"/>
              </a:rPr>
              <a:t> day) {</a:t>
            </a:r>
          </a:p>
          <a:p>
            <a:pPr>
              <a:lnSpc>
                <a:spcPct val="100000"/>
              </a:lnSpc>
            </a:pP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a:t>
            </a:r>
            <a:r>
              <a:rPr sz="1200">
                <a:solidFill>
                  <a:srgbClr val="7FD6A0"/>
                </a:solidFill>
                <a:latin typeface="Consolas"/>
              </a:rPr>
              <a:t>double</a:t>
            </a:r>
            <a:r>
              <a:rPr sz="1200">
                <a:solidFill>
                  <a:srgbClr val="E6EDE8"/>
                </a:solidFill>
                <a:latin typeface="Consolas"/>
              </a:rPr>
              <a:t>) waste[day] * 100</a:t>
            </a:r>
          </a:p>
          <a:p>
            <a:pPr>
              <a:lnSpc>
                <a:spcPct val="100000"/>
              </a:lnSpc>
            </a:pPr>
            <a:r>
              <a:rPr sz="1200">
                <a:solidFill>
                  <a:srgbClr val="E6EDE8"/>
                </a:solidFill>
                <a:latin typeface="Consolas"/>
              </a:rPr>
              <a:t>           / getBinCapacity();</a:t>
            </a:r>
          </a:p>
          <a:p>
            <a:pPr>
              <a:lnSpc>
                <a:spcPct val="100000"/>
              </a:lnSpc>
            </a:pPr>
            <a:r>
              <a:rPr sz="1200">
                <a:solidFill>
                  <a:srgbClr val="E6EDE8"/>
                </a:solidFill>
                <a:latin typeface="Consolas"/>
              </a:rPr>
              <a:t>}</a:t>
            </a:r>
          </a:p>
          <a:p>
            <a:pPr>
              <a:lnSpc>
                <a:spcPct val="100000"/>
              </a:lnSpc>
            </a:pPr>
            <a:r>
              <a:rPr sz="1200">
                <a:solidFill>
                  <a:srgbClr val="FFFFFF"/>
                </a:solidFill>
                <a:latin typeface="Consolas"/>
              </a:rPr>
              <a:t> </a:t>
            </a:r>
          </a:p>
          <a:p>
            <a:pPr>
              <a:lnSpc>
                <a:spcPct val="100000"/>
              </a:lnSpc>
            </a:pPr>
            <a:r>
              <a:rPr sz="1200">
                <a:solidFill>
                  <a:srgbClr val="7E9388"/>
                </a:solidFill>
                <a:latin typeface="Consolas"/>
              </a:rPr>
              <a:t>// round up without Math.ceil</a:t>
            </a:r>
          </a:p>
          <a:p>
            <a:pPr>
              <a:lnSpc>
                <a:spcPct val="100000"/>
              </a:lnSpc>
            </a:pPr>
            <a:r>
              <a:rPr sz="1200">
                <a:solidFill>
                  <a:srgbClr val="7FD6A0"/>
                </a:solidFill>
                <a:latin typeface="Consolas"/>
              </a:rPr>
              <a:t>int</a:t>
            </a:r>
            <a:r>
              <a:rPr sz="1200">
                <a:solidFill>
                  <a:srgbClr val="E6EDE8"/>
                </a:solidFill>
                <a:latin typeface="Consolas"/>
              </a:rPr>
              <a:t> trucks = (load + TRUCK_CAPACITY - 1)</a:t>
            </a:r>
          </a:p>
          <a:p>
            <a:pPr>
              <a:lnSpc>
                <a:spcPct val="100000"/>
              </a:lnSpc>
            </a:pPr>
            <a:r>
              <a:rPr sz="1200">
                <a:solidFill>
                  <a:srgbClr val="E6EDE8"/>
                </a:solidFill>
                <a:latin typeface="Consolas"/>
              </a:rPr>
              <a:t>             / TRUCK_CAPACITY;</a:t>
            </a:r>
          </a:p>
          <a:p>
            <a:pPr>
              <a:lnSpc>
                <a:spcPct val="100000"/>
              </a:lnSpc>
            </a:pPr>
            <a:r>
              <a:rPr sz="1200">
                <a:solidFill>
                  <a:srgbClr val="FFFFFF"/>
                </a:solidFill>
                <a:latin typeface="Consolas"/>
              </a:rPr>
              <a:t> </a:t>
            </a:r>
          </a:p>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readDay() {</a:t>
            </a:r>
          </a:p>
          <a:p>
            <a:pPr>
              <a:lnSpc>
                <a:spcPct val="100000"/>
              </a:lnSpc>
            </a:pP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d;</a:t>
            </a:r>
          </a:p>
          <a:p>
            <a:pPr>
              <a:lnSpc>
                <a:spcPct val="100000"/>
              </a:lnSpc>
            </a:pPr>
            <a:r>
              <a:rPr sz="1200">
                <a:solidFill>
                  <a:srgbClr val="E6EDE8"/>
                </a:solidFill>
                <a:latin typeface="Consolas"/>
              </a:rPr>
              <a:t>    </a:t>
            </a:r>
            <a:r>
              <a:rPr sz="1200">
                <a:solidFill>
                  <a:srgbClr val="7FD6A0"/>
                </a:solidFill>
                <a:latin typeface="Consolas"/>
              </a:rPr>
              <a:t>do</a:t>
            </a:r>
            <a:r>
              <a:rPr sz="1200">
                <a:solidFill>
                  <a:srgbClr val="E6EDE8"/>
                </a:solidFill>
                <a:latin typeface="Consolas"/>
              </a:rPr>
              <a:t> {</a:t>
            </a:r>
          </a:p>
          <a:p>
            <a:pPr>
              <a:lnSpc>
                <a:spcPct val="100000"/>
              </a:lnSpc>
            </a:pPr>
            <a:r>
              <a:rPr sz="1200">
                <a:solidFill>
                  <a:srgbClr val="E6EDE8"/>
                </a:solidFill>
                <a:latin typeface="Consolas"/>
              </a:rPr>
              <a:t>        d = readInt(</a:t>
            </a:r>
            <a:r>
              <a:rPr sz="1200">
                <a:solidFill>
                  <a:srgbClr val="F2C07A"/>
                </a:solidFill>
                <a:latin typeface="Consolas"/>
              </a:rPr>
              <a:t>"Enter day number: "</a:t>
            </a:r>
            <a:r>
              <a:rPr sz="1200">
                <a:solidFill>
                  <a:srgbClr val="E6EDE8"/>
                </a:solidFill>
                <a:latin typeface="Consolas"/>
              </a:rPr>
              <a:t>);</a:t>
            </a:r>
          </a:p>
          <a:p>
            <a:pPr>
              <a:lnSpc>
                <a:spcPct val="100000"/>
              </a:lnSpc>
            </a:pPr>
            <a:r>
              <a:rPr sz="1200">
                <a:solidFill>
                  <a:srgbClr val="E6EDE8"/>
                </a:solidFill>
                <a:latin typeface="Consolas"/>
              </a:rPr>
              <a:t>    } </a:t>
            </a:r>
            <a:r>
              <a:rPr sz="1200">
                <a:solidFill>
                  <a:srgbClr val="7FD6A0"/>
                </a:solidFill>
                <a:latin typeface="Consolas"/>
              </a:rPr>
              <a:t>while</a:t>
            </a:r>
            <a:r>
              <a:rPr sz="1200">
                <a:solidFill>
                  <a:srgbClr val="E6EDE8"/>
                </a:solidFill>
                <a:latin typeface="Consolas"/>
              </a:rPr>
              <a:t> (d &lt; 1 || d &gt; 7);</a:t>
            </a:r>
          </a:p>
          <a:p>
            <a:pPr>
              <a:lnSpc>
                <a:spcPct val="100000"/>
              </a:lnSpc>
            </a:pP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d - 1;     </a:t>
            </a:r>
            <a:r>
              <a:rPr sz="1200">
                <a:solidFill>
                  <a:srgbClr val="7E9388"/>
                </a:solidFill>
                <a:latin typeface="Consolas"/>
              </a:rPr>
              <a:t>// index starts at 0</a:t>
            </a:r>
          </a:p>
          <a:p>
            <a:pPr>
              <a:lnSpc>
                <a:spcPct val="100000"/>
              </a:lnSpc>
            </a:pPr>
            <a:r>
              <a:rPr sz="1200">
                <a:solidFill>
                  <a:srgbClr val="E6EDE8"/>
                </a:solidFill>
                <a:latin typeface="Consolas"/>
              </a:rPr>
              <a:t>}</a:t>
            </a:r>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2 Topics: </a:t>
            </a:r>
            <a:r>
              <a:rPr sz="3400" b="1">
                <a:solidFill>
                  <a:srgbClr val="E88B1E"/>
                </a:solidFill>
                <a:latin typeface="Calibri"/>
              </a:rPr>
              <a:t>Selection and Iteration</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15-10-2026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CO2</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Design control flow using selection and iteration to solve problems requiring decisions and repetition, choosing the appropriate construct and reasoning about termination.</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itemap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if, if-else-if ladder</a:t>
            </a:r>
          </a:p>
          <a:p>
            <a:pPr algn="l">
              <a:spcAft>
                <a:spcPts val="100"/>
              </a:spcAft>
            </a:pPr>
            <a:r>
              <a:rPr sz="1400" b="0" i="0">
                <a:solidFill>
                  <a:srgbClr val="1F2A24"/>
                </a:solidFill>
                <a:latin typeface="Calibri"/>
              </a:rPr>
              <a:t>getStatus() gives LOW / HALF / FULL / OVERFLOW</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ist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switch with do-while</a:t>
            </a:r>
          </a:p>
          <a:p>
            <a:pPr algn="l">
              <a:spcAft>
                <a:spcPts val="100"/>
              </a:spcAft>
            </a:pPr>
            <a:r>
              <a:rPr sz="1400" b="0" i="0">
                <a:solidFill>
                  <a:srgbClr val="1F2A24"/>
                </a:solidFill>
                <a:latin typeface="Calibri"/>
              </a:rPr>
              <a:t>Menu of 11 options repeats until the user enters 0</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while and do-while validation</a:t>
            </a:r>
          </a:p>
          <a:p>
            <a:pPr algn="l">
              <a:spcAft>
                <a:spcPts val="100"/>
              </a:spcAft>
            </a:pPr>
            <a:r>
              <a:rPr sz="1400" b="0" i="0">
                <a:solidFill>
                  <a:srgbClr val="1F2A24"/>
                </a:solidFill>
                <a:latin typeface="Calibri"/>
              </a:rPr>
              <a:t>Re-asks until the day or number entered is valid</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able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Nested for loops</a:t>
            </a:r>
          </a:p>
          <a:p>
            <a:pPr algn="l">
              <a:spcAft>
                <a:spcPts val="100"/>
              </a:spcAft>
            </a:pPr>
            <a:r>
              <a:rPr sz="1400" b="0" i="0">
                <a:solidFill>
                  <a:srgbClr val="1F2A24"/>
                </a:solidFill>
                <a:latin typeface="Calibri"/>
              </a:rPr>
              <a:t>Prints the area x day table in the weekly report</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ruck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break and continue</a:t>
            </a:r>
          </a:p>
          <a:p>
            <a:pPr algn="l">
              <a:spcAft>
                <a:spcPts val="100"/>
              </a:spcAft>
            </a:pPr>
            <a:r>
              <a:rPr sz="1400" b="0" i="0">
                <a:solidFill>
                  <a:srgbClr val="1F2A24"/>
                </a:solidFill>
                <a:latin typeface="Calibri"/>
              </a:rPr>
              <a:t>Stop search when found, skip LOW bins in the plan</a:t>
            </a:r>
          </a:p>
        </p:txBody>
      </p:sp>
      <p:sp>
        <p:nvSpPr>
          <p:cNvPr id="24" name="Rounded Rectangle 23"/>
          <p:cNvSpPr/>
          <p:nvPr/>
        </p:nvSpPr>
        <p:spPr>
          <a:xfrm>
            <a:off x="6263640" y="2240280"/>
            <a:ext cx="5376672" cy="3886200"/>
          </a:xfrm>
          <a:prstGeom prst="roundRect">
            <a:avLst>
              <a:gd name="adj" fmla="val 4000"/>
            </a:avLst>
          </a:prstGeom>
          <a:solidFill>
            <a:srgbClr val="0F1A14"/>
          </a:solidFill>
          <a:ln>
            <a:no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63640" y="2240280"/>
            <a:ext cx="5376672" cy="329184"/>
          </a:xfrm>
          <a:prstGeom prst="roundRect">
            <a:avLst>
              <a:gd name="adj" fmla="val 30000"/>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63640" y="2404872"/>
            <a:ext cx="5376672" cy="164592"/>
          </a:xfrm>
          <a:prstGeom prst="rect">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9944" y="2340864"/>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92824" y="2340864"/>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75704" y="2340864"/>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0879" y="2276856"/>
            <a:ext cx="4462272" cy="256032"/>
          </a:xfrm>
          <a:prstGeom prst="rect">
            <a:avLst/>
          </a:prstGeom>
          <a:noFill/>
        </p:spPr>
        <p:txBody>
          <a:bodyPr wrap="square" anchor="ctr" lIns="0" rIns="0" tIns="0" bIns="0">
            <a:spAutoFit/>
          </a:bodyPr>
          <a:lstStyle/>
          <a:p>
            <a:pPr algn="l">
              <a:spcAft>
                <a:spcPts val="400"/>
              </a:spcAft>
            </a:pPr>
            <a:r>
              <a:rPr sz="1100" b="0" i="0">
                <a:solidFill>
                  <a:srgbClr val="A9C2B4"/>
                </a:solidFill>
                <a:latin typeface="Consolas"/>
              </a:rPr>
              <a:t>CO2  |  if-else ladder, loop + continue</a:t>
            </a:r>
          </a:p>
        </p:txBody>
      </p:sp>
      <p:sp>
        <p:nvSpPr>
          <p:cNvPr id="31" name="TextBox 30"/>
          <p:cNvSpPr txBox="1"/>
          <p:nvPr/>
        </p:nvSpPr>
        <p:spPr>
          <a:xfrm>
            <a:off x="6464807" y="2697480"/>
            <a:ext cx="5010912" cy="3337560"/>
          </a:xfrm>
          <a:prstGeom prst="rect">
            <a:avLst/>
          </a:prstGeom>
          <a:noFill/>
        </p:spPr>
        <p:txBody>
          <a:bodyPr wrap="square" lIns="0" rIns="0" tIns="0" bIns="0">
            <a:spAutoFit/>
          </a:bodyPr>
          <a:lstStyle/>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String</a:t>
            </a:r>
            <a:r>
              <a:rPr sz="1200">
                <a:solidFill>
                  <a:srgbClr val="E6EDE8"/>
                </a:solidFill>
                <a:latin typeface="Consolas"/>
              </a:rPr>
              <a:t> getStatus(</a:t>
            </a:r>
            <a:r>
              <a:rPr sz="1200">
                <a:solidFill>
                  <a:srgbClr val="7FD6A0"/>
                </a:solidFill>
                <a:latin typeface="Consolas"/>
              </a:rPr>
              <a:t>double</a:t>
            </a:r>
            <a:r>
              <a:rPr sz="1200">
                <a:solidFill>
                  <a:srgbClr val="E6EDE8"/>
                </a:solidFill>
                <a:latin typeface="Consolas"/>
              </a:rPr>
              <a:t> p) {</a:t>
            </a:r>
          </a:p>
          <a:p>
            <a:pPr>
              <a:lnSpc>
                <a:spcPct val="100000"/>
              </a:lnSpc>
            </a:pPr>
            <a:r>
              <a:rPr sz="1200">
                <a:solidFill>
                  <a:srgbClr val="E6EDE8"/>
                </a:solidFill>
                <a:latin typeface="Consolas"/>
              </a:rPr>
              <a:t>    </a:t>
            </a:r>
            <a:r>
              <a:rPr sz="1200">
                <a:solidFill>
                  <a:srgbClr val="7FD6A0"/>
                </a:solidFill>
                <a:latin typeface="Consolas"/>
              </a:rPr>
              <a:t>if</a:t>
            </a:r>
            <a:r>
              <a:rPr sz="1200">
                <a:solidFill>
                  <a:srgbClr val="E6EDE8"/>
                </a:solidFill>
                <a:latin typeface="Consolas"/>
              </a:rPr>
              <a:t> (p &gt; 100)       </a:t>
            </a:r>
            <a:r>
              <a:rPr sz="1200">
                <a:solidFill>
                  <a:srgbClr val="7FD6A0"/>
                </a:solidFill>
                <a:latin typeface="Consolas"/>
              </a:rPr>
              <a:t>return</a:t>
            </a:r>
            <a:r>
              <a:rPr sz="1200">
                <a:solidFill>
                  <a:srgbClr val="E6EDE8"/>
                </a:solidFill>
                <a:latin typeface="Consolas"/>
              </a:rPr>
              <a:t> </a:t>
            </a:r>
            <a:r>
              <a:rPr sz="1200">
                <a:solidFill>
                  <a:srgbClr val="F2C07A"/>
                </a:solidFill>
                <a:latin typeface="Consolas"/>
              </a:rPr>
              <a:t>"OVERFLOW"</a:t>
            </a:r>
            <a:r>
              <a:rPr sz="1200">
                <a:solidFill>
                  <a:srgbClr val="E6EDE8"/>
                </a:solidFill>
                <a:latin typeface="Consolas"/>
              </a:rPr>
              <a:t>;</a:t>
            </a:r>
          </a:p>
          <a:p>
            <a:pPr>
              <a:lnSpc>
                <a:spcPct val="100000"/>
              </a:lnSpc>
            </a:pPr>
            <a:r>
              <a:rPr sz="1200">
                <a:solidFill>
                  <a:srgbClr val="E6EDE8"/>
                </a:solidFill>
                <a:latin typeface="Consolas"/>
              </a:rPr>
              <a:t>    </a:t>
            </a:r>
            <a:r>
              <a:rPr sz="1200">
                <a:solidFill>
                  <a:srgbClr val="7FD6A0"/>
                </a:solidFill>
                <a:latin typeface="Consolas"/>
              </a:rPr>
              <a:t>else</a:t>
            </a:r>
            <a:r>
              <a:rPr sz="1200">
                <a:solidFill>
                  <a:srgbClr val="E6EDE8"/>
                </a:solidFill>
                <a:latin typeface="Consolas"/>
              </a:rPr>
              <a:t> </a:t>
            </a:r>
            <a:r>
              <a:rPr sz="1200">
                <a:solidFill>
                  <a:srgbClr val="7FD6A0"/>
                </a:solidFill>
                <a:latin typeface="Consolas"/>
              </a:rPr>
              <a:t>if</a:t>
            </a:r>
            <a:r>
              <a:rPr sz="1200">
                <a:solidFill>
                  <a:srgbClr val="E6EDE8"/>
                </a:solidFill>
                <a:latin typeface="Consolas"/>
              </a:rPr>
              <a:t> (p &gt;= 80)  </a:t>
            </a:r>
            <a:r>
              <a:rPr sz="1200">
                <a:solidFill>
                  <a:srgbClr val="7FD6A0"/>
                </a:solidFill>
                <a:latin typeface="Consolas"/>
              </a:rPr>
              <a:t>return</a:t>
            </a:r>
            <a:r>
              <a:rPr sz="1200">
                <a:solidFill>
                  <a:srgbClr val="E6EDE8"/>
                </a:solidFill>
                <a:latin typeface="Consolas"/>
              </a:rPr>
              <a:t> </a:t>
            </a:r>
            <a:r>
              <a:rPr sz="1200">
                <a:solidFill>
                  <a:srgbClr val="F2C07A"/>
                </a:solidFill>
                <a:latin typeface="Consolas"/>
              </a:rPr>
              <a:t>"FULL"</a:t>
            </a:r>
            <a:r>
              <a:rPr sz="1200">
                <a:solidFill>
                  <a:srgbClr val="E6EDE8"/>
                </a:solidFill>
                <a:latin typeface="Consolas"/>
              </a:rPr>
              <a:t>;</a:t>
            </a:r>
          </a:p>
          <a:p>
            <a:pPr>
              <a:lnSpc>
                <a:spcPct val="100000"/>
              </a:lnSpc>
            </a:pPr>
            <a:r>
              <a:rPr sz="1200">
                <a:solidFill>
                  <a:srgbClr val="E6EDE8"/>
                </a:solidFill>
                <a:latin typeface="Consolas"/>
              </a:rPr>
              <a:t>    </a:t>
            </a:r>
            <a:r>
              <a:rPr sz="1200">
                <a:solidFill>
                  <a:srgbClr val="7FD6A0"/>
                </a:solidFill>
                <a:latin typeface="Consolas"/>
              </a:rPr>
              <a:t>else</a:t>
            </a:r>
            <a:r>
              <a:rPr sz="1200">
                <a:solidFill>
                  <a:srgbClr val="E6EDE8"/>
                </a:solidFill>
                <a:latin typeface="Consolas"/>
              </a:rPr>
              <a:t> </a:t>
            </a:r>
            <a:r>
              <a:rPr sz="1200">
                <a:solidFill>
                  <a:srgbClr val="7FD6A0"/>
                </a:solidFill>
                <a:latin typeface="Consolas"/>
              </a:rPr>
              <a:t>if</a:t>
            </a:r>
            <a:r>
              <a:rPr sz="1200">
                <a:solidFill>
                  <a:srgbClr val="E6EDE8"/>
                </a:solidFill>
                <a:latin typeface="Consolas"/>
              </a:rPr>
              <a:t> (p &gt;= 40)  </a:t>
            </a:r>
            <a:r>
              <a:rPr sz="1200">
                <a:solidFill>
                  <a:srgbClr val="7FD6A0"/>
                </a:solidFill>
                <a:latin typeface="Consolas"/>
              </a:rPr>
              <a:t>return</a:t>
            </a:r>
            <a:r>
              <a:rPr sz="1200">
                <a:solidFill>
                  <a:srgbClr val="E6EDE8"/>
                </a:solidFill>
                <a:latin typeface="Consolas"/>
              </a:rPr>
              <a:t> </a:t>
            </a:r>
            <a:r>
              <a:rPr sz="1200">
                <a:solidFill>
                  <a:srgbClr val="F2C07A"/>
                </a:solidFill>
                <a:latin typeface="Consolas"/>
              </a:rPr>
              <a:t>"HALF"</a:t>
            </a:r>
            <a:r>
              <a:rPr sz="1200">
                <a:solidFill>
                  <a:srgbClr val="E6EDE8"/>
                </a:solidFill>
                <a:latin typeface="Consolas"/>
              </a:rPr>
              <a:t>;</a:t>
            </a:r>
          </a:p>
          <a:p>
            <a:pPr>
              <a:lnSpc>
                <a:spcPct val="100000"/>
              </a:lnSpc>
            </a:pPr>
            <a:r>
              <a:rPr sz="1200">
                <a:solidFill>
                  <a:srgbClr val="E6EDE8"/>
                </a:solidFill>
                <a:latin typeface="Consolas"/>
              </a:rPr>
              <a:t>    </a:t>
            </a:r>
            <a:r>
              <a:rPr sz="1200">
                <a:solidFill>
                  <a:srgbClr val="7FD6A0"/>
                </a:solidFill>
                <a:latin typeface="Consolas"/>
              </a:rPr>
              <a:t>else</a:t>
            </a: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a:t>
            </a:r>
            <a:r>
              <a:rPr sz="1200">
                <a:solidFill>
                  <a:srgbClr val="F2C07A"/>
                </a:solidFill>
                <a:latin typeface="Consolas"/>
              </a:rPr>
              <a:t>"LOW"</a:t>
            </a:r>
            <a:r>
              <a:rPr sz="1200">
                <a:solidFill>
                  <a:srgbClr val="E6EDE8"/>
                </a:solidFill>
                <a:latin typeface="Consolas"/>
              </a:rPr>
              <a:t>;</a:t>
            </a:r>
          </a:p>
          <a:p>
            <a:pPr>
              <a:lnSpc>
                <a:spcPct val="100000"/>
              </a:lnSpc>
            </a:pPr>
            <a:r>
              <a:rPr sz="1200">
                <a:solidFill>
                  <a:srgbClr val="E6EDE8"/>
                </a:solidFill>
                <a:latin typeface="Consolas"/>
              </a:rPr>
              <a:t>}</a:t>
            </a:r>
          </a:p>
          <a:p>
            <a:pPr>
              <a:lnSpc>
                <a:spcPct val="100000"/>
              </a:lnSpc>
            </a:pPr>
            <a:r>
              <a:rPr sz="1200">
                <a:solidFill>
                  <a:srgbClr val="FFFFFF"/>
                </a:solidFill>
                <a:latin typeface="Consolas"/>
              </a:rPr>
              <a:t> </a:t>
            </a:r>
          </a:p>
          <a:p>
            <a:pPr>
              <a:lnSpc>
                <a:spcPct val="100000"/>
              </a:lnSpc>
            </a:pPr>
            <a:r>
              <a:rPr sz="1200">
                <a:solidFill>
                  <a:srgbClr val="7FD6A0"/>
                </a:solidFill>
                <a:latin typeface="Consolas"/>
              </a:rPr>
              <a:t>for</a:t>
            </a:r>
            <a:r>
              <a:rPr sz="1200">
                <a:solidFill>
                  <a:srgbClr val="E6EDE8"/>
                </a:solidFill>
                <a:latin typeface="Consolas"/>
              </a:rPr>
              <a:t> (CollectionArea a : areas) {</a:t>
            </a:r>
          </a:p>
          <a:p>
            <a:pPr>
              <a:lnSpc>
                <a:spcPct val="100000"/>
              </a:lnSpc>
            </a:pPr>
            <a:r>
              <a:rPr sz="1200">
                <a:solidFill>
                  <a:srgbClr val="E6EDE8"/>
                </a:solidFill>
                <a:latin typeface="Consolas"/>
              </a:rPr>
              <a:t>    </a:t>
            </a:r>
            <a:r>
              <a:rPr sz="1200">
                <a:solidFill>
                  <a:srgbClr val="7FD6A0"/>
                </a:solidFill>
                <a:latin typeface="Consolas"/>
              </a:rPr>
              <a:t>if</a:t>
            </a:r>
            <a:r>
              <a:rPr sz="1200">
                <a:solidFill>
                  <a:srgbClr val="E6EDE8"/>
                </a:solidFill>
                <a:latin typeface="Consolas"/>
              </a:rPr>
              <a:t> (getStatus(a.fillPercent(day))</a:t>
            </a:r>
          </a:p>
          <a:p>
            <a:pPr>
              <a:lnSpc>
                <a:spcPct val="100000"/>
              </a:lnSpc>
            </a:pPr>
            <a:r>
              <a:rPr sz="1200">
                <a:solidFill>
                  <a:srgbClr val="E6EDE8"/>
                </a:solidFill>
                <a:latin typeface="Consolas"/>
              </a:rPr>
              <a:t>            .equals(</a:t>
            </a:r>
            <a:r>
              <a:rPr sz="1200">
                <a:solidFill>
                  <a:srgbClr val="F2C07A"/>
                </a:solidFill>
                <a:latin typeface="Consolas"/>
              </a:rPr>
              <a:t>"LOW"</a:t>
            </a:r>
            <a:r>
              <a:rPr sz="1200">
                <a:solidFill>
                  <a:srgbClr val="E6EDE8"/>
                </a:solidFill>
                <a:latin typeface="Consolas"/>
              </a:rPr>
              <a:t>)) {</a:t>
            </a:r>
          </a:p>
          <a:p>
            <a:pPr>
              <a:lnSpc>
                <a:spcPct val="100000"/>
              </a:lnSpc>
            </a:pPr>
            <a:r>
              <a:rPr sz="1200">
                <a:solidFill>
                  <a:srgbClr val="E6EDE8"/>
                </a:solidFill>
                <a:latin typeface="Consolas"/>
              </a:rPr>
              <a:t>        System.out.println(</a:t>
            </a:r>
            <a:r>
              <a:rPr sz="1200">
                <a:solidFill>
                  <a:srgbClr val="F2C07A"/>
                </a:solidFill>
                <a:latin typeface="Consolas"/>
              </a:rPr>
              <a:t>"Skip "</a:t>
            </a:r>
            <a:r>
              <a:rPr sz="1200">
                <a:solidFill>
                  <a:srgbClr val="E6EDE8"/>
                </a:solidFill>
                <a:latin typeface="Consolas"/>
              </a:rPr>
              <a:t> + a.getName());</a:t>
            </a:r>
          </a:p>
          <a:p>
            <a:pPr>
              <a:lnSpc>
                <a:spcPct val="100000"/>
              </a:lnSpc>
            </a:pPr>
            <a:r>
              <a:rPr sz="1200">
                <a:solidFill>
                  <a:srgbClr val="E6EDE8"/>
                </a:solidFill>
                <a:latin typeface="Consolas"/>
              </a:rPr>
              <a:t>        continue;             </a:t>
            </a:r>
            <a:r>
              <a:rPr sz="1200">
                <a:solidFill>
                  <a:srgbClr val="7E9388"/>
                </a:solidFill>
                <a:latin typeface="Consolas"/>
              </a:rPr>
              <a:t>// no truck needed</a:t>
            </a:r>
          </a:p>
          <a:p>
            <a:pPr>
              <a:lnSpc>
                <a:spcPct val="100000"/>
              </a:lnSpc>
            </a:pPr>
            <a:r>
              <a:rPr sz="1200">
                <a:solidFill>
                  <a:srgbClr val="E6EDE8"/>
                </a:solidFill>
                <a:latin typeface="Consolas"/>
              </a:rPr>
              <a:t>    }</a:t>
            </a:r>
          </a:p>
          <a:p>
            <a:pPr>
              <a:lnSpc>
                <a:spcPct val="100000"/>
              </a:lnSpc>
            </a:pPr>
            <a:r>
              <a:rPr sz="1200">
                <a:solidFill>
                  <a:srgbClr val="E6EDE8"/>
                </a:solidFill>
                <a:latin typeface="Consolas"/>
              </a:rPr>
              <a:t>    load += a.getWaste(day);</a:t>
            </a:r>
          </a:p>
          <a:p>
            <a:pPr>
              <a:lnSpc>
                <a:spcPct val="100000"/>
              </a:lnSpc>
            </a:pPr>
            <a:r>
              <a:rPr sz="1200">
                <a:solidFill>
                  <a:srgbClr val="E6EDE8"/>
                </a:solidFill>
                <a:latin typeface="Consolas"/>
              </a:rPr>
              <a:t>}</a:t>
            </a:r>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3 Topics: </a:t>
            </a:r>
            <a:r>
              <a:rPr sz="3400" b="1">
                <a:solidFill>
                  <a:srgbClr val="E88B1E"/>
                </a:solidFill>
                <a:latin typeface="Calibri"/>
              </a:rPr>
              <a:t>Methods, Recursion and Arrays</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15-10-2026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CO3</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Modularise solutions using methods and recursion, and store/process homogeneous data with one- and two-dimensional arrays, applying standard processing patterns.</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de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Methods, parameters, return</a:t>
            </a:r>
          </a:p>
          <a:p>
            <a:pPr algn="l">
              <a:spcAft>
                <a:spcPts val="100"/>
              </a:spcAft>
            </a:pPr>
            <a:r>
              <a:rPr sz="1400" b="0" i="0">
                <a:solidFill>
                  <a:srgbClr val="1F2A24"/>
                </a:solidFill>
                <a:latin typeface="Calibri"/>
              </a:rPr>
              <a:t>fillPercent(), getStatus(), collectionPlan(day)</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random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Method overloading</a:t>
            </a:r>
          </a:p>
          <a:p>
            <a:pPr algn="l">
              <a:spcAft>
                <a:spcPts val="100"/>
              </a:spcAft>
            </a:pPr>
            <a:r>
              <a:rPr sz="1400" b="0" i="0">
                <a:solidFill>
                  <a:srgbClr val="1F2A24"/>
                </a:solidFill>
                <a:latin typeface="Calibri"/>
              </a:rPr>
              <a:t>getTotal(int[]) for one area, getTotal(int[][]) for city</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ecycle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Recursion</a:t>
            </a:r>
          </a:p>
          <a:p>
            <a:pPr algn="l">
              <a:spcAft>
                <a:spcPts val="100"/>
              </a:spcAft>
            </a:pPr>
            <a:r>
              <a:rPr sz="1400" b="0" i="0">
                <a:solidFill>
                  <a:srgbClr val="1F2A24"/>
                </a:solidFill>
                <a:latin typeface="Calibri"/>
              </a:rPr>
              <a:t>dayTotal() adds one day across all areas, area by area</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able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2D array</a:t>
            </a:r>
          </a:p>
          <a:p>
            <a:pPr algn="l">
              <a:spcAft>
                <a:spcPts val="100"/>
              </a:spcAft>
            </a:pPr>
            <a:r>
              <a:rPr sz="1400" b="0" i="0">
                <a:solidFill>
                  <a:srgbClr val="1F2A24"/>
                </a:solidFill>
                <a:latin typeface="Calibri"/>
              </a:rPr>
              <a:t>toMatrix(): rows are areas, columns are 7 days</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1D array: sort and search</a:t>
            </a:r>
          </a:p>
          <a:p>
            <a:pPr algn="l">
              <a:spcAft>
                <a:spcPts val="100"/>
              </a:spcAft>
            </a:pPr>
            <a:r>
              <a:rPr sz="1400" b="0" i="0">
                <a:solidFill>
                  <a:srgbClr val="1F2A24"/>
                </a:solidFill>
                <a:latin typeface="Calibri"/>
              </a:rPr>
              <a:t>Bubble sort ranking, linear search by area name</a:t>
            </a:r>
          </a:p>
        </p:txBody>
      </p:sp>
      <p:sp>
        <p:nvSpPr>
          <p:cNvPr id="24" name="Rounded Rectangle 23"/>
          <p:cNvSpPr/>
          <p:nvPr/>
        </p:nvSpPr>
        <p:spPr>
          <a:xfrm>
            <a:off x="6263640" y="2240280"/>
            <a:ext cx="5376672" cy="3886200"/>
          </a:xfrm>
          <a:prstGeom prst="roundRect">
            <a:avLst>
              <a:gd name="adj" fmla="val 4000"/>
            </a:avLst>
          </a:prstGeom>
          <a:solidFill>
            <a:srgbClr val="0F1A14"/>
          </a:solidFill>
          <a:ln>
            <a:no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63640" y="2240280"/>
            <a:ext cx="5376672" cy="329184"/>
          </a:xfrm>
          <a:prstGeom prst="roundRect">
            <a:avLst>
              <a:gd name="adj" fmla="val 30000"/>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63640" y="2404872"/>
            <a:ext cx="5376672" cy="164592"/>
          </a:xfrm>
          <a:prstGeom prst="rect">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9944" y="2340864"/>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92824" y="2340864"/>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75704" y="2340864"/>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0879" y="2276856"/>
            <a:ext cx="4462272" cy="256032"/>
          </a:xfrm>
          <a:prstGeom prst="rect">
            <a:avLst/>
          </a:prstGeom>
          <a:noFill/>
        </p:spPr>
        <p:txBody>
          <a:bodyPr wrap="square" anchor="ctr" lIns="0" rIns="0" tIns="0" bIns="0">
            <a:spAutoFit/>
          </a:bodyPr>
          <a:lstStyle/>
          <a:p>
            <a:pPr algn="l">
              <a:spcAft>
                <a:spcPts val="400"/>
              </a:spcAft>
            </a:pPr>
            <a:r>
              <a:rPr sz="1100" b="0" i="0">
                <a:solidFill>
                  <a:srgbClr val="A9C2B4"/>
                </a:solidFill>
                <a:latin typeface="Consolas"/>
              </a:rPr>
              <a:t>CO3  |  overloading and recursion</a:t>
            </a:r>
          </a:p>
        </p:txBody>
      </p:sp>
      <p:sp>
        <p:nvSpPr>
          <p:cNvPr id="31" name="TextBox 30"/>
          <p:cNvSpPr txBox="1"/>
          <p:nvPr/>
        </p:nvSpPr>
        <p:spPr>
          <a:xfrm>
            <a:off x="6464807" y="2697480"/>
            <a:ext cx="5010912" cy="3337560"/>
          </a:xfrm>
          <a:prstGeom prst="rect">
            <a:avLst/>
          </a:prstGeom>
          <a:noFill/>
        </p:spPr>
        <p:txBody>
          <a:bodyPr wrap="square" lIns="0" rIns="0" tIns="0" bIns="0">
            <a:spAutoFit/>
          </a:bodyPr>
          <a:lstStyle/>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getTotal(</a:t>
            </a:r>
            <a:r>
              <a:rPr sz="1200">
                <a:solidFill>
                  <a:srgbClr val="7FD6A0"/>
                </a:solidFill>
                <a:latin typeface="Consolas"/>
              </a:rPr>
              <a:t>int</a:t>
            </a:r>
            <a:r>
              <a:rPr sz="1200">
                <a:solidFill>
                  <a:srgbClr val="E6EDE8"/>
                </a:solidFill>
                <a:latin typeface="Consolas"/>
              </a:rPr>
              <a:t>[] row) {</a:t>
            </a:r>
          </a:p>
          <a:p>
            <a:pPr>
              <a:lnSpc>
                <a:spcPct val="100000"/>
              </a:lnSpc>
            </a:pP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sum = 0;</a:t>
            </a:r>
          </a:p>
          <a:p>
            <a:pPr>
              <a:lnSpc>
                <a:spcPct val="100000"/>
              </a:lnSpc>
            </a:pPr>
            <a:r>
              <a:rPr sz="1200">
                <a:solidFill>
                  <a:srgbClr val="E6EDE8"/>
                </a:solidFill>
                <a:latin typeface="Consolas"/>
              </a:rPr>
              <a:t>    </a:t>
            </a:r>
            <a:r>
              <a:rPr sz="1200">
                <a:solidFill>
                  <a:srgbClr val="7FD6A0"/>
                </a:solidFill>
                <a:latin typeface="Consolas"/>
              </a:rPr>
              <a:t>for</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kg : row) sum += kg;</a:t>
            </a:r>
          </a:p>
          <a:p>
            <a:pPr>
              <a:lnSpc>
                <a:spcPct val="100000"/>
              </a:lnSpc>
            </a:pP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sum;</a:t>
            </a:r>
          </a:p>
          <a:p>
            <a:pPr>
              <a:lnSpc>
                <a:spcPct val="100000"/>
              </a:lnSpc>
            </a:pPr>
            <a:r>
              <a:rPr sz="1200">
                <a:solidFill>
                  <a:srgbClr val="E6EDE8"/>
                </a:solidFill>
                <a:latin typeface="Consolas"/>
              </a:rPr>
              <a:t>}</a:t>
            </a:r>
          </a:p>
          <a:p>
            <a:pPr>
              <a:lnSpc>
                <a:spcPct val="100000"/>
              </a:lnSpc>
            </a:pPr>
            <a:r>
              <a:rPr sz="1200">
                <a:solidFill>
                  <a:srgbClr val="FFFFFF"/>
                </a:solidFill>
                <a:latin typeface="Consolas"/>
              </a:rPr>
              <a:t> </a:t>
            </a:r>
          </a:p>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getTotal(</a:t>
            </a:r>
            <a:r>
              <a:rPr sz="1200">
                <a:solidFill>
                  <a:srgbClr val="7FD6A0"/>
                </a:solidFill>
                <a:latin typeface="Consolas"/>
              </a:rPr>
              <a:t>int</a:t>
            </a:r>
            <a:r>
              <a:rPr sz="1200">
                <a:solidFill>
                  <a:srgbClr val="E6EDE8"/>
                </a:solidFill>
                <a:latin typeface="Consolas"/>
              </a:rPr>
              <a:t>[][] data) {  </a:t>
            </a:r>
            <a:r>
              <a:rPr sz="1200">
                <a:solidFill>
                  <a:srgbClr val="7E9388"/>
                </a:solidFill>
                <a:latin typeface="Consolas"/>
              </a:rPr>
              <a:t>// overloaded</a:t>
            </a:r>
          </a:p>
          <a:p>
            <a:pPr>
              <a:lnSpc>
                <a:spcPct val="100000"/>
              </a:lnSpc>
            </a:pP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sum = 0;</a:t>
            </a:r>
          </a:p>
          <a:p>
            <a:pPr>
              <a:lnSpc>
                <a:spcPct val="100000"/>
              </a:lnSpc>
            </a:pPr>
            <a:r>
              <a:rPr sz="1200">
                <a:solidFill>
                  <a:srgbClr val="E6EDE8"/>
                </a:solidFill>
                <a:latin typeface="Consolas"/>
              </a:rPr>
              <a:t>    </a:t>
            </a:r>
            <a:r>
              <a:rPr sz="1200">
                <a:solidFill>
                  <a:srgbClr val="7FD6A0"/>
                </a:solidFill>
                <a:latin typeface="Consolas"/>
              </a:rPr>
              <a:t>for</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i = 0; i &lt; data.length; i++)</a:t>
            </a:r>
          </a:p>
          <a:p>
            <a:pPr>
              <a:lnSpc>
                <a:spcPct val="100000"/>
              </a:lnSpc>
            </a:pPr>
            <a:r>
              <a:rPr sz="1200">
                <a:solidFill>
                  <a:srgbClr val="E6EDE8"/>
                </a:solidFill>
                <a:latin typeface="Consolas"/>
              </a:rPr>
              <a:t>        sum += getTotal(data[i]);</a:t>
            </a:r>
          </a:p>
          <a:p>
            <a:pPr>
              <a:lnSpc>
                <a:spcPct val="100000"/>
              </a:lnSpc>
            </a:pP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sum;</a:t>
            </a:r>
          </a:p>
          <a:p>
            <a:pPr>
              <a:lnSpc>
                <a:spcPct val="100000"/>
              </a:lnSpc>
            </a:pPr>
            <a:r>
              <a:rPr sz="1200">
                <a:solidFill>
                  <a:srgbClr val="E6EDE8"/>
                </a:solidFill>
                <a:latin typeface="Consolas"/>
              </a:rPr>
              <a:t>}</a:t>
            </a:r>
          </a:p>
          <a:p>
            <a:pPr>
              <a:lnSpc>
                <a:spcPct val="100000"/>
              </a:lnSpc>
            </a:pPr>
            <a:r>
              <a:rPr sz="1200">
                <a:solidFill>
                  <a:srgbClr val="FFFFFF"/>
                </a:solidFill>
                <a:latin typeface="Consolas"/>
              </a:rPr>
              <a:t> </a:t>
            </a:r>
          </a:p>
          <a:p>
            <a:pPr>
              <a:lnSpc>
                <a:spcPct val="100000"/>
              </a:lnSpc>
            </a:pPr>
            <a:r>
              <a:rPr sz="1200">
                <a:solidFill>
                  <a:srgbClr val="7FD6A0"/>
                </a:solidFill>
                <a:latin typeface="Consolas"/>
              </a:rPr>
              <a:t>static</a:t>
            </a: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dayTotal(</a:t>
            </a:r>
            <a:r>
              <a:rPr sz="1200">
                <a:solidFill>
                  <a:srgbClr val="7FD6A0"/>
                </a:solidFill>
                <a:latin typeface="Consolas"/>
              </a:rPr>
              <a:t>int</a:t>
            </a:r>
            <a:r>
              <a:rPr sz="1200">
                <a:solidFill>
                  <a:srgbClr val="E6EDE8"/>
                </a:solidFill>
                <a:latin typeface="Consolas"/>
              </a:rPr>
              <a:t>[][] d, </a:t>
            </a:r>
            <a:r>
              <a:rPr sz="1200">
                <a:solidFill>
                  <a:srgbClr val="7FD6A0"/>
                </a:solidFill>
                <a:latin typeface="Consolas"/>
              </a:rPr>
              <a:t>int</a:t>
            </a:r>
            <a:r>
              <a:rPr sz="1200">
                <a:solidFill>
                  <a:srgbClr val="E6EDE8"/>
                </a:solidFill>
                <a:latin typeface="Consolas"/>
              </a:rPr>
              <a:t> day, </a:t>
            </a:r>
            <a:r>
              <a:rPr sz="1200">
                <a:solidFill>
                  <a:srgbClr val="7FD6A0"/>
                </a:solidFill>
                <a:latin typeface="Consolas"/>
              </a:rPr>
              <a:t>int</a:t>
            </a:r>
            <a:r>
              <a:rPr sz="1200">
                <a:solidFill>
                  <a:srgbClr val="E6EDE8"/>
                </a:solidFill>
                <a:latin typeface="Consolas"/>
              </a:rPr>
              <a:t> a) {</a:t>
            </a:r>
          </a:p>
          <a:p>
            <a:pPr>
              <a:lnSpc>
                <a:spcPct val="100000"/>
              </a:lnSpc>
            </a:pPr>
            <a:r>
              <a:rPr sz="1200">
                <a:solidFill>
                  <a:srgbClr val="E6EDE8"/>
                </a:solidFill>
                <a:latin typeface="Consolas"/>
              </a:rPr>
              <a:t>    </a:t>
            </a:r>
            <a:r>
              <a:rPr sz="1200">
                <a:solidFill>
                  <a:srgbClr val="7FD6A0"/>
                </a:solidFill>
                <a:latin typeface="Consolas"/>
              </a:rPr>
              <a:t>if</a:t>
            </a:r>
            <a:r>
              <a:rPr sz="1200">
                <a:solidFill>
                  <a:srgbClr val="E6EDE8"/>
                </a:solidFill>
                <a:latin typeface="Consolas"/>
              </a:rPr>
              <a:t> (a == d.length) </a:t>
            </a:r>
            <a:r>
              <a:rPr sz="1200">
                <a:solidFill>
                  <a:srgbClr val="7FD6A0"/>
                </a:solidFill>
                <a:latin typeface="Consolas"/>
              </a:rPr>
              <a:t>return</a:t>
            </a:r>
            <a:r>
              <a:rPr sz="1200">
                <a:solidFill>
                  <a:srgbClr val="E6EDE8"/>
                </a:solidFill>
                <a:latin typeface="Consolas"/>
              </a:rPr>
              <a:t> 0;    </a:t>
            </a:r>
            <a:r>
              <a:rPr sz="1200">
                <a:solidFill>
                  <a:srgbClr val="7E9388"/>
                </a:solidFill>
                <a:latin typeface="Consolas"/>
              </a:rPr>
              <a:t>// base case</a:t>
            </a:r>
          </a:p>
          <a:p>
            <a:pPr>
              <a:lnSpc>
                <a:spcPct val="100000"/>
              </a:lnSpc>
            </a:pPr>
            <a:r>
              <a:rPr sz="1200">
                <a:solidFill>
                  <a:srgbClr val="E6EDE8"/>
                </a:solidFill>
                <a:latin typeface="Consolas"/>
              </a:rPr>
              <a:t>    </a:t>
            </a:r>
            <a:r>
              <a:rPr sz="1200">
                <a:solidFill>
                  <a:srgbClr val="7FD6A0"/>
                </a:solidFill>
                <a:latin typeface="Consolas"/>
              </a:rPr>
              <a:t>return</a:t>
            </a:r>
            <a:r>
              <a:rPr sz="1200">
                <a:solidFill>
                  <a:srgbClr val="E6EDE8"/>
                </a:solidFill>
                <a:latin typeface="Consolas"/>
              </a:rPr>
              <a:t> d[a][day] + dayTotal(d, day, a + 1);</a:t>
            </a:r>
          </a:p>
          <a:p>
            <a:pPr>
              <a:lnSpc>
                <a:spcPct val="100000"/>
              </a:lnSpc>
            </a:pPr>
            <a:r>
              <a:rPr sz="1200">
                <a:solidFill>
                  <a:srgbClr val="E6EDE8"/>
                </a:solidFill>
                <a:latin typeface="Consolas"/>
              </a:rPr>
              <a:t>}</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4: </a:t>
            </a:r>
            <a:r>
              <a:rPr sz="3400" b="1">
                <a:solidFill>
                  <a:srgbClr val="E88B1E"/>
                </a:solidFill>
                <a:latin typeface="Calibri"/>
              </a:rPr>
              <a:t>Object-Oriented Design and Exceptions</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7</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CO4</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Model a problem domain with classes and objects applying encapsulation and relationships, and make programs robust using Java's exception-handling mechanism.</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ubes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Classes, objects, constructors</a:t>
            </a:r>
          </a:p>
          <a:p>
            <a:pPr algn="l">
              <a:spcAft>
                <a:spcPts val="100"/>
              </a:spcAft>
            </a:pPr>
            <a:r>
              <a:rPr sz="1400" b="0" i="0">
                <a:solidFill>
                  <a:srgbClr val="1F2A24"/>
                </a:solidFill>
                <a:latin typeface="Calibri"/>
              </a:rPr>
              <a:t>Overloaded constructors, this(...), objects made with new</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hield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Encapsulation and static</a:t>
            </a:r>
          </a:p>
          <a:p>
            <a:pPr algn="l">
              <a:spcAft>
                <a:spcPts val="100"/>
              </a:spcAft>
            </a:pPr>
            <a:r>
              <a:rPr sz="1400" b="0" i="0">
                <a:solidFill>
                  <a:srgbClr val="1F2A24"/>
                </a:solidFill>
                <a:latin typeface="Calibri"/>
              </a:rPr>
              <a:t>private fields, getters/setters, static areaCount, toString()</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itemap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Inheritance and abstraction</a:t>
            </a:r>
          </a:p>
          <a:p>
            <a:pPr algn="l">
              <a:spcAft>
                <a:spcPts val="100"/>
              </a:spcAft>
            </a:pPr>
            <a:r>
              <a:rPr sz="1400" b="0" i="0">
                <a:solidFill>
                  <a:srgbClr val="1F2A24"/>
                </a:solidFill>
                <a:latin typeface="Calibri"/>
              </a:rPr>
              <a:t>Residential and Commercial extend abstract CollectionArea</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random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Interfaces and polymorphism</a:t>
            </a:r>
          </a:p>
          <a:p>
            <a:pPr algn="l">
              <a:spcAft>
                <a:spcPts val="100"/>
              </a:spcAft>
            </a:pPr>
            <a:r>
              <a:rPr sz="1400" b="0" i="0">
                <a:solidFill>
                  <a:srgbClr val="1F2A24"/>
                </a:solidFill>
                <a:latin typeface="Calibri"/>
              </a:rPr>
              <a:t>Reportable, Comparable; overridden shortReport() and rates</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ightbulb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Exception handling</a:t>
            </a:r>
          </a:p>
          <a:p>
            <a:pPr algn="l">
              <a:spcAft>
                <a:spcPts val="100"/>
              </a:spcAft>
            </a:pPr>
            <a:r>
              <a:rPr sz="1400" b="0" i="0">
                <a:solidFill>
                  <a:srgbClr val="1F2A24"/>
                </a:solidFill>
                <a:latin typeface="Calibri"/>
              </a:rPr>
              <a:t>Custom InvalidWasteException, throw/throws, try-catch</a:t>
            </a:r>
          </a:p>
        </p:txBody>
      </p:sp>
      <p:sp>
        <p:nvSpPr>
          <p:cNvPr id="24" name="Rounded Rectangle 23"/>
          <p:cNvSpPr/>
          <p:nvPr/>
        </p:nvSpPr>
        <p:spPr>
          <a:xfrm>
            <a:off x="6766559" y="2331720"/>
            <a:ext cx="2057400" cy="566928"/>
          </a:xfrm>
          <a:prstGeom prst="roundRect">
            <a:avLst>
              <a:gd name="adj" fmla="val 6000"/>
            </a:avLst>
          </a:prstGeom>
          <a:solidFill>
            <a:srgbClr val="FFFFFF"/>
          </a:solidFill>
          <a:ln w="15875">
            <a:solidFill>
              <a:srgbClr val="E88B1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766559" y="2331720"/>
            <a:ext cx="2057400" cy="566928"/>
          </a:xfrm>
          <a:prstGeom prst="roundRect">
            <a:avLst>
              <a:gd name="adj" fmla="val 12000"/>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766559" y="2788920"/>
            <a:ext cx="2057400" cy="109728"/>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66559" y="2377439"/>
            <a:ext cx="2057400" cy="493776"/>
          </a:xfrm>
          <a:prstGeom prst="rect">
            <a:avLst/>
          </a:prstGeom>
          <a:noFill/>
        </p:spPr>
        <p:txBody>
          <a:bodyPr wrap="square" anchor="ctr" lIns="0" rIns="0" tIns="0" bIns="0">
            <a:spAutoFit/>
          </a:bodyPr>
          <a:lstStyle/>
          <a:p>
            <a:pPr algn="ctr">
              <a:spcAft>
                <a:spcPts val="0"/>
              </a:spcAft>
            </a:pPr>
            <a:r>
              <a:rPr sz="1100" b="0" i="1">
                <a:solidFill>
                  <a:srgbClr val="FFFFFF"/>
                </a:solidFill>
                <a:latin typeface="Calibri"/>
              </a:rPr>
              <a:t>&lt;&lt;interface&gt;&gt;</a:t>
            </a:r>
          </a:p>
          <a:p>
            <a:pPr algn="ctr">
              <a:spcAft>
                <a:spcPts val="0"/>
              </a:spcAft>
            </a:pPr>
            <a:r>
              <a:rPr sz="1400" b="1" i="0">
                <a:solidFill>
                  <a:srgbClr val="FFFFFF"/>
                </a:solidFill>
                <a:latin typeface="Calibri"/>
              </a:rPr>
              <a:t>Reportable</a:t>
            </a:r>
          </a:p>
        </p:txBody>
      </p:sp>
      <p:sp>
        <p:nvSpPr>
          <p:cNvPr id="28" name="Rounded Rectangle 27"/>
          <p:cNvSpPr/>
          <p:nvPr/>
        </p:nvSpPr>
        <p:spPr>
          <a:xfrm>
            <a:off x="9144000" y="2331720"/>
            <a:ext cx="2240280" cy="566928"/>
          </a:xfrm>
          <a:prstGeom prst="roundRect">
            <a:avLst>
              <a:gd name="adj" fmla="val 6000"/>
            </a:avLst>
          </a:prstGeom>
          <a:solidFill>
            <a:srgbClr val="FFFFFF"/>
          </a:solidFill>
          <a:ln w="15875">
            <a:solidFill>
              <a:srgbClr val="E88B1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9144000" y="2331720"/>
            <a:ext cx="2240280" cy="566928"/>
          </a:xfrm>
          <a:prstGeom prst="roundRect">
            <a:avLst>
              <a:gd name="adj" fmla="val 12000"/>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144000" y="2788920"/>
            <a:ext cx="2240280" cy="109728"/>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0" y="2377439"/>
            <a:ext cx="2240280" cy="493776"/>
          </a:xfrm>
          <a:prstGeom prst="rect">
            <a:avLst/>
          </a:prstGeom>
          <a:noFill/>
        </p:spPr>
        <p:txBody>
          <a:bodyPr wrap="square" anchor="ctr" lIns="0" rIns="0" tIns="0" bIns="0">
            <a:spAutoFit/>
          </a:bodyPr>
          <a:lstStyle/>
          <a:p>
            <a:pPr algn="ctr">
              <a:spcAft>
                <a:spcPts val="0"/>
              </a:spcAft>
            </a:pPr>
            <a:r>
              <a:rPr sz="1100" b="0" i="1">
                <a:solidFill>
                  <a:srgbClr val="FFFFFF"/>
                </a:solidFill>
                <a:latin typeface="Calibri"/>
              </a:rPr>
              <a:t>&lt;&lt;interface&gt;&gt;</a:t>
            </a:r>
          </a:p>
          <a:p>
            <a:pPr algn="ctr">
              <a:spcAft>
                <a:spcPts val="0"/>
              </a:spcAft>
            </a:pPr>
            <a:r>
              <a:rPr sz="1400" b="1" i="0">
                <a:solidFill>
                  <a:srgbClr val="FFFFFF"/>
                </a:solidFill>
                <a:latin typeface="Calibri"/>
              </a:rPr>
              <a:t>Comparable&lt;T&gt;</a:t>
            </a:r>
          </a:p>
        </p:txBody>
      </p:sp>
      <p:sp>
        <p:nvSpPr>
          <p:cNvPr id="32" name="Rounded Rectangle 31"/>
          <p:cNvSpPr/>
          <p:nvPr/>
        </p:nvSpPr>
        <p:spPr>
          <a:xfrm>
            <a:off x="7132320" y="3429000"/>
            <a:ext cx="3657600" cy="1261872"/>
          </a:xfrm>
          <a:prstGeom prst="roundRect">
            <a:avLst>
              <a:gd name="adj" fmla="val 6000"/>
            </a:avLst>
          </a:prstGeom>
          <a:solidFill>
            <a:srgbClr val="FFFFFF"/>
          </a:solidFill>
          <a:ln w="15875">
            <a:solidFill>
              <a:srgbClr val="1B6B3A"/>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7132320" y="3429000"/>
            <a:ext cx="3657600" cy="566928"/>
          </a:xfrm>
          <a:prstGeom prst="roundRect">
            <a:avLst>
              <a:gd name="adj" fmla="val 12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132320" y="3886200"/>
            <a:ext cx="3657600" cy="109728"/>
          </a:xfrm>
          <a:prstGeom prst="rect">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132320" y="3474720"/>
            <a:ext cx="3657600" cy="493776"/>
          </a:xfrm>
          <a:prstGeom prst="rect">
            <a:avLst/>
          </a:prstGeom>
          <a:noFill/>
        </p:spPr>
        <p:txBody>
          <a:bodyPr wrap="square" anchor="ctr" lIns="0" rIns="0" tIns="0" bIns="0">
            <a:spAutoFit/>
          </a:bodyPr>
          <a:lstStyle/>
          <a:p>
            <a:pPr algn="ctr">
              <a:spcAft>
                <a:spcPts val="0"/>
              </a:spcAft>
            </a:pPr>
            <a:r>
              <a:rPr sz="1100" b="0" i="1">
                <a:solidFill>
                  <a:srgbClr val="FFFFFF"/>
                </a:solidFill>
                <a:latin typeface="Calibri"/>
              </a:rPr>
              <a:t>&lt;&lt;abstract&gt;&gt;</a:t>
            </a:r>
          </a:p>
          <a:p>
            <a:pPr algn="ctr">
              <a:spcAft>
                <a:spcPts val="0"/>
              </a:spcAft>
            </a:pPr>
            <a:r>
              <a:rPr sz="1400" b="1" i="0">
                <a:solidFill>
                  <a:srgbClr val="FFFFFF"/>
                </a:solidFill>
                <a:latin typeface="Calibri"/>
              </a:rPr>
              <a:t>CollectionArea</a:t>
            </a:r>
          </a:p>
        </p:txBody>
      </p:sp>
      <p:sp>
        <p:nvSpPr>
          <p:cNvPr id="36" name="TextBox 35"/>
          <p:cNvSpPr txBox="1"/>
          <p:nvPr/>
        </p:nvSpPr>
        <p:spPr>
          <a:xfrm>
            <a:off x="7242048" y="4050791"/>
            <a:ext cx="3474720" cy="603503"/>
          </a:xfrm>
          <a:prstGeom prst="rect">
            <a:avLst/>
          </a:prstGeom>
          <a:noFill/>
        </p:spPr>
        <p:txBody>
          <a:bodyPr wrap="square" anchor="t" lIns="0" rIns="0" tIns="0" bIns="0">
            <a:spAutoFit/>
          </a:bodyPr>
          <a:lstStyle/>
          <a:p>
            <a:pPr algn="l">
              <a:spcAft>
                <a:spcPts val="0"/>
              </a:spcAft>
            </a:pPr>
            <a:r>
              <a:rPr sz="1100" b="0" i="0">
                <a:solidFill>
                  <a:srgbClr val="1F2A24"/>
                </a:solidFill>
                <a:latin typeface="Consolas"/>
              </a:rPr>
              <a:t>- name : String</a:t>
            </a:r>
          </a:p>
          <a:p>
            <a:pPr algn="l">
              <a:spcAft>
                <a:spcPts val="0"/>
              </a:spcAft>
            </a:pPr>
            <a:r>
              <a:rPr sz="1100" b="0" i="0">
                <a:solidFill>
                  <a:srgbClr val="1F2A24"/>
                </a:solidFill>
                <a:latin typeface="Consolas"/>
              </a:rPr>
              <a:t>- waste : int[7]</a:t>
            </a:r>
          </a:p>
          <a:p>
            <a:pPr algn="l">
              <a:spcAft>
                <a:spcPts val="0"/>
              </a:spcAft>
            </a:pPr>
            <a:r>
              <a:rPr sz="1100" b="0" i="0">
                <a:solidFill>
                  <a:srgbClr val="1F2A24"/>
                </a:solidFill>
                <a:latin typeface="Consolas"/>
              </a:rPr>
              <a:t>+ getBinCapacity() : int  (abstract)</a:t>
            </a:r>
          </a:p>
        </p:txBody>
      </p:sp>
      <p:sp>
        <p:nvSpPr>
          <p:cNvPr id="37" name="Rounded Rectangle 36"/>
          <p:cNvSpPr/>
          <p:nvPr/>
        </p:nvSpPr>
        <p:spPr>
          <a:xfrm>
            <a:off x="6263640" y="5138928"/>
            <a:ext cx="2377440" cy="868680"/>
          </a:xfrm>
          <a:prstGeom prst="roundRect">
            <a:avLst>
              <a:gd name="adj" fmla="val 6000"/>
            </a:avLst>
          </a:prstGeom>
          <a:solidFill>
            <a:srgbClr val="FFFFFF"/>
          </a:solidFill>
          <a:ln w="15875">
            <a:solidFill>
              <a:srgbClr val="124A28"/>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263640" y="5138928"/>
            <a:ext cx="2377440" cy="384048"/>
          </a:xfrm>
          <a:prstGeom prst="roundRect">
            <a:avLst>
              <a:gd name="adj" fmla="val 12000"/>
            </a:avLst>
          </a:prstGeom>
          <a:solidFill>
            <a:srgbClr val="12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263640" y="5413248"/>
            <a:ext cx="2377440" cy="109728"/>
          </a:xfrm>
          <a:prstGeom prst="rect">
            <a:avLst/>
          </a:prstGeom>
          <a:solidFill>
            <a:srgbClr val="12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263640" y="5184648"/>
            <a:ext cx="2377440" cy="310896"/>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ResidentialArea</a:t>
            </a:r>
          </a:p>
        </p:txBody>
      </p:sp>
      <p:sp>
        <p:nvSpPr>
          <p:cNvPr id="41" name="TextBox 40"/>
          <p:cNvSpPr txBox="1"/>
          <p:nvPr/>
        </p:nvSpPr>
        <p:spPr>
          <a:xfrm>
            <a:off x="6373368" y="5577840"/>
            <a:ext cx="2194560" cy="393192"/>
          </a:xfrm>
          <a:prstGeom prst="rect">
            <a:avLst/>
          </a:prstGeom>
          <a:noFill/>
        </p:spPr>
        <p:txBody>
          <a:bodyPr wrap="square" anchor="t" lIns="0" rIns="0" tIns="0" bIns="0">
            <a:spAutoFit/>
          </a:bodyPr>
          <a:lstStyle/>
          <a:p>
            <a:pPr algn="l">
              <a:spcAft>
                <a:spcPts val="0"/>
              </a:spcAft>
            </a:pPr>
            <a:r>
              <a:rPr sz="1100" b="0" i="0">
                <a:solidFill>
                  <a:srgbClr val="1F2A24"/>
                </a:solidFill>
                <a:latin typeface="Consolas"/>
              </a:rPr>
              <a:t>500 kg bins, Rs 2.5/kg</a:t>
            </a:r>
          </a:p>
        </p:txBody>
      </p:sp>
      <p:sp>
        <p:nvSpPr>
          <p:cNvPr id="42" name="Rounded Rectangle 41"/>
          <p:cNvSpPr/>
          <p:nvPr/>
        </p:nvSpPr>
        <p:spPr>
          <a:xfrm>
            <a:off x="9235440" y="5138928"/>
            <a:ext cx="2377440" cy="868680"/>
          </a:xfrm>
          <a:prstGeom prst="roundRect">
            <a:avLst>
              <a:gd name="adj" fmla="val 6000"/>
            </a:avLst>
          </a:prstGeom>
          <a:solidFill>
            <a:srgbClr val="FFFFFF"/>
          </a:solidFill>
          <a:ln w="15875">
            <a:solidFill>
              <a:srgbClr val="124A28"/>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9235440" y="5138928"/>
            <a:ext cx="2377440" cy="384048"/>
          </a:xfrm>
          <a:prstGeom prst="roundRect">
            <a:avLst>
              <a:gd name="adj" fmla="val 12000"/>
            </a:avLst>
          </a:prstGeom>
          <a:solidFill>
            <a:srgbClr val="12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235440" y="5413248"/>
            <a:ext cx="2377440" cy="109728"/>
          </a:xfrm>
          <a:prstGeom prst="rect">
            <a:avLst/>
          </a:prstGeom>
          <a:solidFill>
            <a:srgbClr val="124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235440" y="5184648"/>
            <a:ext cx="2377440" cy="310896"/>
          </a:xfrm>
          <a:prstGeom prst="rect">
            <a:avLst/>
          </a:prstGeom>
          <a:noFill/>
        </p:spPr>
        <p:txBody>
          <a:bodyPr wrap="square" anchor="ctr" lIns="0" rIns="0" tIns="0" bIns="0">
            <a:spAutoFit/>
          </a:bodyPr>
          <a:lstStyle/>
          <a:p>
            <a:pPr algn="ctr">
              <a:spcAft>
                <a:spcPts val="0"/>
              </a:spcAft>
            </a:pPr>
            <a:r>
              <a:rPr sz="1400" b="1" i="0">
                <a:solidFill>
                  <a:srgbClr val="FFFFFF"/>
                </a:solidFill>
                <a:latin typeface="Calibri"/>
              </a:rPr>
              <a:t>CommercialArea</a:t>
            </a:r>
          </a:p>
        </p:txBody>
      </p:sp>
      <p:sp>
        <p:nvSpPr>
          <p:cNvPr id="46" name="TextBox 45"/>
          <p:cNvSpPr txBox="1"/>
          <p:nvPr/>
        </p:nvSpPr>
        <p:spPr>
          <a:xfrm>
            <a:off x="9345167" y="5577840"/>
            <a:ext cx="2194560" cy="393192"/>
          </a:xfrm>
          <a:prstGeom prst="rect">
            <a:avLst/>
          </a:prstGeom>
          <a:noFill/>
        </p:spPr>
        <p:txBody>
          <a:bodyPr wrap="square" anchor="t" lIns="0" rIns="0" tIns="0" bIns="0">
            <a:spAutoFit/>
          </a:bodyPr>
          <a:lstStyle/>
          <a:p>
            <a:pPr algn="l">
              <a:spcAft>
                <a:spcPts val="0"/>
              </a:spcAft>
            </a:pPr>
            <a:r>
              <a:rPr sz="1100" b="0" i="0">
                <a:solidFill>
                  <a:srgbClr val="1F2A24"/>
                </a:solidFill>
                <a:latin typeface="Consolas"/>
              </a:rPr>
              <a:t>800 kg bins, Rs 3.0/kg</a:t>
            </a:r>
          </a:p>
        </p:txBody>
      </p:sp>
      <p:cxnSp>
        <p:nvCxnSpPr>
          <p:cNvPr id="47" name="Connector 46"/>
          <p:cNvCxnSpPr/>
          <p:nvPr/>
        </p:nvCxnSpPr>
        <p:spPr>
          <a:xfrm flipH="1" flipV="1">
            <a:off x="7799831" y="2898648"/>
            <a:ext cx="1161289" cy="530352"/>
          </a:xfrm>
          <a:prstGeom prst="line">
            <a:avLst/>
          </a:prstGeom>
          <a:ln w="19050">
            <a:solidFill>
              <a:srgbClr val="5A6B61"/>
            </a:solidFill>
            <a:prstDash val="lgDash"/>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961120" y="2898648"/>
            <a:ext cx="1307592" cy="530352"/>
          </a:xfrm>
          <a:prstGeom prst="line">
            <a:avLst/>
          </a:prstGeom>
          <a:ln w="19050">
            <a:solidFill>
              <a:srgbClr val="5A6B61"/>
            </a:solidFill>
            <a:prstDash val="lgDash"/>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452360" y="4690872"/>
            <a:ext cx="1005840" cy="448056"/>
          </a:xfrm>
          <a:prstGeom prst="line">
            <a:avLst/>
          </a:prstGeom>
          <a:ln w="19050">
            <a:solidFill>
              <a:srgbClr val="5A6B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9464040" y="4690872"/>
            <a:ext cx="960119" cy="448056"/>
          </a:xfrm>
          <a:prstGeom prst="line">
            <a:avLst/>
          </a:prstGeom>
          <a:ln w="19050">
            <a:solidFill>
              <a:srgbClr val="5A6B61"/>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5: </a:t>
            </a:r>
            <a:r>
              <a:rPr sz="3400" b="1">
                <a:solidFill>
                  <a:srgbClr val="E88B1E"/>
                </a:solidFill>
                <a:latin typeface="Calibri"/>
              </a:rPr>
              <a:t>Strings, Sorting and File I/O</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8</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CO5</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Process textual data with the String/StringBuilder APIs, apply standard library algorithms (searching, sorting, comparison), and persist data using file input/output.</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ont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String methods</a:t>
            </a:r>
          </a:p>
          <a:p>
            <a:pPr algn="l">
              <a:spcAft>
                <a:spcPts val="100"/>
              </a:spcAft>
            </a:pPr>
            <a:r>
              <a:rPr sz="1400" b="0" i="0">
                <a:solidFill>
                  <a:srgbClr val="1F2A24"/>
                </a:solidFill>
                <a:latin typeface="Calibri"/>
              </a:rPr>
              <a:t>trim, toLowerCase, equalsIgnoreCase, contains, matches, join</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le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StringBuilder report</a:t>
            </a:r>
          </a:p>
          <a:p>
            <a:pPr algn="l">
              <a:spcAft>
                <a:spcPts val="100"/>
              </a:spcAft>
            </a:pPr>
            <a:r>
              <a:rPr sz="1400" b="0" i="0">
                <a:solidFill>
                  <a:srgbClr val="1F2A24"/>
                </a:solidFill>
                <a:latin typeface="Calibri"/>
              </a:rPr>
              <a:t>buildWeeklyReport() is shared by screen and file output</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Parsing with split()</a:t>
            </a:r>
          </a:p>
          <a:p>
            <a:pPr algn="l">
              <a:spcAft>
                <a:spcPts val="100"/>
              </a:spcAft>
            </a:pPr>
            <a:r>
              <a:rPr sz="1400" b="0" i="0">
                <a:solidFill>
                  <a:srgbClr val="1F2A24"/>
                </a:solidFill>
                <a:latin typeface="Calibri"/>
              </a:rPr>
              <a:t>Each CSV line is split(",") and parsed with parseInt()</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art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Library sorting</a:t>
            </a:r>
          </a:p>
          <a:p>
            <a:pPr algn="l">
              <a:spcAft>
                <a:spcPts val="100"/>
              </a:spcAft>
            </a:pPr>
            <a:r>
              <a:rPr sz="1400" b="0" i="0">
                <a:solidFill>
                  <a:srgbClr val="1F2A24"/>
                </a:solidFill>
                <a:latin typeface="Calibri"/>
              </a:rPr>
              <a:t>Comparable compareTo() with Collections.sort() for top 3</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File I/O and exceptions</a:t>
            </a:r>
          </a:p>
          <a:p>
            <a:pPr algn="l">
              <a:spcAft>
                <a:spcPts val="100"/>
              </a:spcAft>
            </a:pPr>
            <a:r>
              <a:rPr sz="1400" b="0" i="0">
                <a:solidFill>
                  <a:srgbClr val="1F2A24"/>
                </a:solidFill>
                <a:latin typeface="Calibri"/>
              </a:rPr>
              <a:t>BufferedReader/Writer, try-with-resources, multi-catch</a:t>
            </a:r>
          </a:p>
        </p:txBody>
      </p:sp>
      <p:sp>
        <p:nvSpPr>
          <p:cNvPr id="24" name="Rounded Rectangle 23"/>
          <p:cNvSpPr/>
          <p:nvPr/>
        </p:nvSpPr>
        <p:spPr>
          <a:xfrm>
            <a:off x="6263640" y="2240280"/>
            <a:ext cx="5376672" cy="3886200"/>
          </a:xfrm>
          <a:prstGeom prst="roundRect">
            <a:avLst>
              <a:gd name="adj" fmla="val 4000"/>
            </a:avLst>
          </a:prstGeom>
          <a:solidFill>
            <a:srgbClr val="0F1A14"/>
          </a:solidFill>
          <a:ln>
            <a:no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63640" y="2240280"/>
            <a:ext cx="5376672" cy="329184"/>
          </a:xfrm>
          <a:prstGeom prst="roundRect">
            <a:avLst>
              <a:gd name="adj" fmla="val 30000"/>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63640" y="2404872"/>
            <a:ext cx="5376672" cy="164592"/>
          </a:xfrm>
          <a:prstGeom prst="rect">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9944" y="2340864"/>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92824" y="2340864"/>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75704" y="2340864"/>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0879" y="2276856"/>
            <a:ext cx="4462272" cy="256032"/>
          </a:xfrm>
          <a:prstGeom prst="rect">
            <a:avLst/>
          </a:prstGeom>
          <a:noFill/>
        </p:spPr>
        <p:txBody>
          <a:bodyPr wrap="square" anchor="ctr" lIns="0" rIns="0" tIns="0" bIns="0">
            <a:spAutoFit/>
          </a:bodyPr>
          <a:lstStyle/>
          <a:p>
            <a:pPr algn="l">
              <a:spcAft>
                <a:spcPts val="400"/>
              </a:spcAft>
            </a:pPr>
            <a:r>
              <a:rPr sz="1100" b="0" i="0">
                <a:solidFill>
                  <a:srgbClr val="A9C2B4"/>
                </a:solidFill>
                <a:latin typeface="Consolas"/>
              </a:rPr>
              <a:t>CO5  |  reading waste_data.csv safely</a:t>
            </a:r>
          </a:p>
        </p:txBody>
      </p:sp>
      <p:sp>
        <p:nvSpPr>
          <p:cNvPr id="31" name="TextBox 30"/>
          <p:cNvSpPr txBox="1"/>
          <p:nvPr/>
        </p:nvSpPr>
        <p:spPr>
          <a:xfrm>
            <a:off x="6464807" y="2697480"/>
            <a:ext cx="5010912" cy="3337560"/>
          </a:xfrm>
          <a:prstGeom prst="rect">
            <a:avLst/>
          </a:prstGeom>
          <a:noFill/>
        </p:spPr>
        <p:txBody>
          <a:bodyPr wrap="square" lIns="0" rIns="0" tIns="0" bIns="0">
            <a:spAutoFit/>
          </a:bodyPr>
          <a:lstStyle/>
          <a:p>
            <a:pPr>
              <a:lnSpc>
                <a:spcPct val="100000"/>
              </a:lnSpc>
            </a:pPr>
            <a:r>
              <a:rPr sz="1200">
                <a:solidFill>
                  <a:srgbClr val="7FD6A0"/>
                </a:solidFill>
                <a:latin typeface="Consolas"/>
              </a:rPr>
              <a:t>try</a:t>
            </a:r>
            <a:r>
              <a:rPr sz="1200">
                <a:solidFill>
                  <a:srgbClr val="E6EDE8"/>
                </a:solidFill>
                <a:latin typeface="Consolas"/>
              </a:rPr>
              <a:t> (BufferedReader br =</a:t>
            </a:r>
          </a:p>
          <a:p>
            <a:pPr>
              <a:lnSpc>
                <a:spcPct val="100000"/>
              </a:lnSpc>
            </a:pPr>
            <a:r>
              <a:rPr sz="1200">
                <a:solidFill>
                  <a:srgbClr val="E6EDE8"/>
                </a:solidFill>
                <a:latin typeface="Consolas"/>
              </a:rPr>
              <a:t>         Files.newBufferedReader(path)) {</a:t>
            </a:r>
          </a:p>
          <a:p>
            <a:pPr>
              <a:lnSpc>
                <a:spcPct val="100000"/>
              </a:lnSpc>
            </a:pPr>
            <a:r>
              <a:rPr sz="1200">
                <a:solidFill>
                  <a:srgbClr val="E6EDE8"/>
                </a:solidFill>
                <a:latin typeface="Consolas"/>
              </a:rPr>
              <a:t>    </a:t>
            </a:r>
            <a:r>
              <a:rPr sz="1200">
                <a:solidFill>
                  <a:srgbClr val="7FD6A0"/>
                </a:solidFill>
                <a:latin typeface="Consolas"/>
              </a:rPr>
              <a:t>String</a:t>
            </a:r>
            <a:r>
              <a:rPr sz="1200">
                <a:solidFill>
                  <a:srgbClr val="E6EDE8"/>
                </a:solidFill>
                <a:latin typeface="Consolas"/>
              </a:rPr>
              <a:t> line;</a:t>
            </a:r>
          </a:p>
          <a:p>
            <a:pPr>
              <a:lnSpc>
                <a:spcPct val="100000"/>
              </a:lnSpc>
            </a:pPr>
            <a:r>
              <a:rPr sz="1200">
                <a:solidFill>
                  <a:srgbClr val="E6EDE8"/>
                </a:solidFill>
                <a:latin typeface="Consolas"/>
              </a:rPr>
              <a:t>    </a:t>
            </a:r>
            <a:r>
              <a:rPr sz="1200">
                <a:solidFill>
                  <a:srgbClr val="7FD6A0"/>
                </a:solidFill>
                <a:latin typeface="Consolas"/>
              </a:rPr>
              <a:t>while</a:t>
            </a:r>
            <a:r>
              <a:rPr sz="1200">
                <a:solidFill>
                  <a:srgbClr val="E6EDE8"/>
                </a:solidFill>
                <a:latin typeface="Consolas"/>
              </a:rPr>
              <a:t> ((line = br.readLine()) != null) {</a:t>
            </a:r>
          </a:p>
          <a:p>
            <a:pPr>
              <a:lnSpc>
                <a:spcPct val="100000"/>
              </a:lnSpc>
            </a:pPr>
            <a:r>
              <a:rPr sz="1200">
                <a:solidFill>
                  <a:srgbClr val="E6EDE8"/>
                </a:solidFill>
                <a:latin typeface="Consolas"/>
              </a:rPr>
              <a:t>        </a:t>
            </a:r>
            <a:r>
              <a:rPr sz="1200">
                <a:solidFill>
                  <a:srgbClr val="7FD6A0"/>
                </a:solidFill>
                <a:latin typeface="Consolas"/>
              </a:rPr>
              <a:t>String</a:t>
            </a:r>
            <a:r>
              <a:rPr sz="1200">
                <a:solidFill>
                  <a:srgbClr val="E6EDE8"/>
                </a:solidFill>
                <a:latin typeface="Consolas"/>
              </a:rPr>
              <a:t>[] p = line.trim().split(</a:t>
            </a:r>
            <a:r>
              <a:rPr sz="1200">
                <a:solidFill>
                  <a:srgbClr val="F2C07A"/>
                </a:solidFill>
                <a:latin typeface="Consolas"/>
              </a:rPr>
              <a:t>","</a:t>
            </a:r>
            <a:r>
              <a:rPr sz="1200">
                <a:solidFill>
                  <a:srgbClr val="E6EDE8"/>
                </a:solidFill>
                <a:latin typeface="Consolas"/>
              </a:rPr>
              <a:t>);</a:t>
            </a:r>
          </a:p>
          <a:p>
            <a:pPr>
              <a:lnSpc>
                <a:spcPct val="100000"/>
              </a:lnSpc>
            </a:pPr>
            <a:r>
              <a:rPr sz="1200">
                <a:solidFill>
                  <a:srgbClr val="E6EDE8"/>
                </a:solidFill>
                <a:latin typeface="Consolas"/>
              </a:rPr>
              <a:t>        </a:t>
            </a:r>
            <a:r>
              <a:rPr sz="1200">
                <a:solidFill>
                  <a:srgbClr val="7FD6A0"/>
                </a:solidFill>
                <a:latin typeface="Consolas"/>
              </a:rPr>
              <a:t>try</a:t>
            </a:r>
            <a:r>
              <a:rPr sz="1200">
                <a:solidFill>
                  <a:srgbClr val="E6EDE8"/>
                </a:solidFill>
                <a:latin typeface="Consolas"/>
              </a:rPr>
              <a:t> {</a:t>
            </a:r>
          </a:p>
          <a:p>
            <a:pPr>
              <a:lnSpc>
                <a:spcPct val="100000"/>
              </a:lnSpc>
            </a:pPr>
            <a:r>
              <a:rPr sz="1200">
                <a:solidFill>
                  <a:srgbClr val="E6EDE8"/>
                </a:solidFill>
                <a:latin typeface="Consolas"/>
              </a:rPr>
              <a:t>            </a:t>
            </a:r>
            <a:r>
              <a:rPr sz="1200">
                <a:solidFill>
                  <a:srgbClr val="7FD6A0"/>
                </a:solidFill>
                <a:latin typeface="Consolas"/>
              </a:rPr>
              <a:t>int</a:t>
            </a:r>
            <a:r>
              <a:rPr sz="1200">
                <a:solidFill>
                  <a:srgbClr val="E6EDE8"/>
                </a:solidFill>
                <a:latin typeface="Consolas"/>
              </a:rPr>
              <a:t> kg = Integer.parseInt(p[2].trim());</a:t>
            </a:r>
          </a:p>
          <a:p>
            <a:pPr>
              <a:lnSpc>
                <a:spcPct val="100000"/>
              </a:lnSpc>
            </a:pPr>
            <a:r>
              <a:rPr sz="1200">
                <a:solidFill>
                  <a:srgbClr val="E6EDE8"/>
                </a:solidFill>
                <a:latin typeface="Consolas"/>
              </a:rPr>
              <a:t>            ...</a:t>
            </a:r>
          </a:p>
          <a:p>
            <a:pPr>
              <a:lnSpc>
                <a:spcPct val="100000"/>
              </a:lnSpc>
            </a:pPr>
            <a:r>
              <a:rPr sz="1200">
                <a:solidFill>
                  <a:srgbClr val="E6EDE8"/>
                </a:solidFill>
                <a:latin typeface="Consolas"/>
              </a:rPr>
              <a:t>        } </a:t>
            </a:r>
            <a:r>
              <a:rPr sz="1200">
                <a:solidFill>
                  <a:srgbClr val="7FD6A0"/>
                </a:solidFill>
                <a:latin typeface="Consolas"/>
              </a:rPr>
              <a:t>catch</a:t>
            </a:r>
            <a:r>
              <a:rPr sz="1200">
                <a:solidFill>
                  <a:srgbClr val="E6EDE8"/>
                </a:solidFill>
                <a:latin typeface="Consolas"/>
              </a:rPr>
              <a:t> (NumberFormatException</a:t>
            </a:r>
          </a:p>
          <a:p>
            <a:pPr>
              <a:lnSpc>
                <a:spcPct val="100000"/>
              </a:lnSpc>
            </a:pPr>
            <a:r>
              <a:rPr sz="1200">
                <a:solidFill>
                  <a:srgbClr val="E6EDE8"/>
                </a:solidFill>
                <a:latin typeface="Consolas"/>
              </a:rPr>
              <a:t>               | InvalidWasteException e) {</a:t>
            </a:r>
          </a:p>
          <a:p>
            <a:pPr>
              <a:lnSpc>
                <a:spcPct val="100000"/>
              </a:lnSpc>
            </a:pPr>
            <a:r>
              <a:rPr sz="1200">
                <a:solidFill>
                  <a:srgbClr val="E6EDE8"/>
                </a:solidFill>
                <a:latin typeface="Consolas"/>
              </a:rPr>
              <a:t>            System.out.println(</a:t>
            </a:r>
            <a:r>
              <a:rPr sz="1200">
                <a:solidFill>
                  <a:srgbClr val="F2C07A"/>
                </a:solidFill>
                <a:latin typeface="Consolas"/>
              </a:rPr>
              <a:t>"Line skipped: "</a:t>
            </a:r>
          </a:p>
          <a:p>
            <a:pPr>
              <a:lnSpc>
                <a:spcPct val="100000"/>
              </a:lnSpc>
            </a:pPr>
            <a:r>
              <a:rPr sz="1200">
                <a:solidFill>
                  <a:srgbClr val="E6EDE8"/>
                </a:solidFill>
                <a:latin typeface="Consolas"/>
              </a:rPr>
              <a:t>                               + e.getMessage());</a:t>
            </a:r>
          </a:p>
          <a:p>
            <a:pPr>
              <a:lnSpc>
                <a:spcPct val="100000"/>
              </a:lnSpc>
            </a:pPr>
            <a:r>
              <a:rPr sz="1200">
                <a:solidFill>
                  <a:srgbClr val="E6EDE8"/>
                </a:solidFill>
                <a:latin typeface="Consolas"/>
              </a:rPr>
              <a:t>        }</a:t>
            </a:r>
          </a:p>
          <a:p>
            <a:pPr>
              <a:lnSpc>
                <a:spcPct val="100000"/>
              </a:lnSpc>
            </a:pPr>
            <a:r>
              <a:rPr sz="1200">
                <a:solidFill>
                  <a:srgbClr val="E6EDE8"/>
                </a:solidFill>
                <a:latin typeface="Consolas"/>
              </a:rPr>
              <a:t>    }</a:t>
            </a:r>
          </a:p>
          <a:p>
            <a:pPr>
              <a:lnSpc>
                <a:spcPct val="100000"/>
              </a:lnSpc>
            </a:pPr>
            <a:r>
              <a:rPr sz="1200">
                <a:solidFill>
                  <a:srgbClr val="E6EDE8"/>
                </a:solidFill>
                <a:latin typeface="Consolas"/>
              </a:rPr>
              <a:t>} </a:t>
            </a:r>
            <a:r>
              <a:rPr sz="1200">
                <a:solidFill>
                  <a:srgbClr val="7FD6A0"/>
                </a:solidFill>
                <a:latin typeface="Consolas"/>
              </a:rPr>
              <a:t>catch</a:t>
            </a:r>
            <a:r>
              <a:rPr sz="1200">
                <a:solidFill>
                  <a:srgbClr val="E6EDE8"/>
                </a:solidFill>
                <a:latin typeface="Consolas"/>
              </a:rPr>
              <a:t> (NoSuchFileException e) {</a:t>
            </a:r>
          </a:p>
          <a:p>
            <a:pPr>
              <a:lnSpc>
                <a:spcPct val="100000"/>
              </a:lnSpc>
            </a:pPr>
            <a:r>
              <a:rPr sz="1200">
                <a:solidFill>
                  <a:srgbClr val="E6EDE8"/>
                </a:solidFill>
                <a:latin typeface="Consolas"/>
              </a:rPr>
              <a:t>    System.out.println(</a:t>
            </a:r>
            <a:r>
              <a:rPr sz="1200">
                <a:solidFill>
                  <a:srgbClr val="F2C07A"/>
                </a:solidFill>
                <a:latin typeface="Consolas"/>
              </a:rPr>
              <a:t>"File not found"</a:t>
            </a:r>
            <a:r>
              <a:rPr sz="1200">
                <a:solidFill>
                  <a:srgbClr val="E6EDE8"/>
                </a:solidFill>
                <a:latin typeface="Consolas"/>
              </a:rPr>
              <a:t>);</a:t>
            </a:r>
          </a:p>
          <a:p>
            <a:pPr>
              <a:lnSpc>
                <a:spcPct val="100000"/>
              </a:lnSpc>
            </a:pPr>
            <a:r>
              <a:rPr sz="1200">
                <a:solidFill>
                  <a:srgbClr val="E6EDE8"/>
                </a:solidFill>
                <a:latin typeface="Consolas"/>
              </a:rPr>
              <a:t>}</a:t>
            </a:r>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 6: </a:t>
            </a:r>
            <a:r>
              <a:rPr sz="3400" b="1">
                <a:solidFill>
                  <a:srgbClr val="E88B1E"/>
                </a:solidFill>
                <a:latin typeface="Calibri"/>
              </a:rPr>
              <a:t>Collections, Lambdas and Streams</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9</a:t>
            </a:fld>
            <a:endParaRPr lang="en-IN"/>
          </a:p>
        </p:txBody>
      </p:sp>
      <p:sp>
        <p:nvSpPr>
          <p:cNvPr id="6" name="Rounded Rectangle 5"/>
          <p:cNvSpPr/>
          <p:nvPr/>
        </p:nvSpPr>
        <p:spPr>
          <a:xfrm>
            <a:off x="548640" y="1298448"/>
            <a:ext cx="11091672" cy="713232"/>
          </a:xfrm>
          <a:prstGeom prst="roundRect">
            <a:avLst>
              <a:gd name="adj" fmla="val 1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13232" y="1463040"/>
            <a:ext cx="868680" cy="384048"/>
          </a:xfrm>
          <a:prstGeom prst="roundRect">
            <a:avLst>
              <a:gd name="adj" fmla="val 50000"/>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b="1">
                <a:solidFill>
                  <a:srgbClr val="FFFFFF"/>
                </a:solidFill>
                <a:latin typeface="Calibri"/>
              </a:rPr>
              <a:t>CO6</a:t>
            </a:r>
          </a:p>
        </p:txBody>
      </p:sp>
      <p:sp>
        <p:nvSpPr>
          <p:cNvPr id="8" name="TextBox 7"/>
          <p:cNvSpPr txBox="1"/>
          <p:nvPr/>
        </p:nvSpPr>
        <p:spPr>
          <a:xfrm>
            <a:off x="1783080" y="1298448"/>
            <a:ext cx="9692640" cy="713232"/>
          </a:xfrm>
          <a:prstGeom prst="rect">
            <a:avLst/>
          </a:prstGeom>
          <a:noFill/>
        </p:spPr>
        <p:txBody>
          <a:bodyPr wrap="square" anchor="ctr" lIns="0" rIns="0" tIns="0" bIns="0">
            <a:spAutoFit/>
          </a:bodyPr>
          <a:lstStyle/>
          <a:p>
            <a:pPr algn="l">
              <a:spcAft>
                <a:spcPts val="400"/>
              </a:spcAft>
            </a:pPr>
            <a:r>
              <a:rPr sz="1400" b="1" i="0">
                <a:solidFill>
                  <a:srgbClr val="124A28"/>
                </a:solidFill>
                <a:latin typeface="Calibri"/>
              </a:rPr>
              <a:t>Course outcome: </a:t>
            </a:r>
            <a:r>
              <a:rPr sz="1400" b="0" i="1">
                <a:solidFill>
                  <a:srgbClr val="1F2A24"/>
                </a:solidFill>
                <a:latin typeface="Calibri"/>
              </a:rPr>
              <a:t>Manage collections of data and express data processing declaratively using the Collections framework, lambdas, functional interfaces, and Stream pipelines.</a:t>
            </a:r>
          </a:p>
        </p:txBody>
      </p:sp>
      <p:sp>
        <p:nvSpPr>
          <p:cNvPr id="9" name="Oval 8"/>
          <p:cNvSpPr/>
          <p:nvPr/>
        </p:nvSpPr>
        <p:spPr>
          <a:xfrm>
            <a:off x="548640" y="2295144"/>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st_g.png"/>
          <p:cNvPicPr>
            <a:picLocks noChangeAspect="1"/>
          </p:cNvPicPr>
          <p:nvPr/>
        </p:nvPicPr>
        <p:blipFill>
          <a:blip r:embed="rId2"/>
          <a:stretch>
            <a:fillRect/>
          </a:stretch>
        </p:blipFill>
        <p:spPr>
          <a:xfrm>
            <a:off x="658368" y="2404872"/>
            <a:ext cx="237744" cy="237744"/>
          </a:xfrm>
          <a:prstGeom prst="rect">
            <a:avLst/>
          </a:prstGeom>
        </p:spPr>
      </p:pic>
      <p:sp>
        <p:nvSpPr>
          <p:cNvPr id="11" name="TextBox 10"/>
          <p:cNvSpPr txBox="1"/>
          <p:nvPr/>
        </p:nvSpPr>
        <p:spPr>
          <a:xfrm>
            <a:off x="1170432" y="2240280"/>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List, Map and Set</a:t>
            </a:r>
          </a:p>
          <a:p>
            <a:pPr algn="l">
              <a:spcAft>
                <a:spcPts val="100"/>
              </a:spcAft>
            </a:pPr>
            <a:r>
              <a:rPr sz="1400" b="0" i="0">
                <a:solidFill>
                  <a:srgbClr val="1F2A24"/>
                </a:solidFill>
                <a:latin typeface="Calibri"/>
              </a:rPr>
              <a:t>ArrayList of areas, HashMap for lookup, TreeSet for A-Z names</a:t>
            </a:r>
          </a:p>
        </p:txBody>
      </p:sp>
      <p:sp>
        <p:nvSpPr>
          <p:cNvPr id="12" name="Oval 11"/>
          <p:cNvSpPr/>
          <p:nvPr/>
        </p:nvSpPr>
        <p:spPr>
          <a:xfrm>
            <a:off x="548640" y="3081528"/>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ubes_g.png"/>
          <p:cNvPicPr>
            <a:picLocks noChangeAspect="1"/>
          </p:cNvPicPr>
          <p:nvPr/>
        </p:nvPicPr>
        <p:blipFill>
          <a:blip r:embed="rId3"/>
          <a:stretch>
            <a:fillRect/>
          </a:stretch>
        </p:blipFill>
        <p:spPr>
          <a:xfrm>
            <a:off x="658368" y="3191256"/>
            <a:ext cx="237744" cy="237744"/>
          </a:xfrm>
          <a:prstGeom prst="rect">
            <a:avLst/>
          </a:prstGeom>
        </p:spPr>
      </p:pic>
      <p:sp>
        <p:nvSpPr>
          <p:cNvPr id="14" name="TextBox 13"/>
          <p:cNvSpPr txBox="1"/>
          <p:nvPr/>
        </p:nvSpPr>
        <p:spPr>
          <a:xfrm>
            <a:off x="1170432" y="3026664"/>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Generics</a:t>
            </a:r>
          </a:p>
          <a:p>
            <a:pPr algn="l">
              <a:spcAft>
                <a:spcPts val="100"/>
              </a:spcAft>
            </a:pPr>
            <a:r>
              <a:rPr sz="1400" b="0" i="0">
                <a:solidFill>
                  <a:srgbClr val="1F2A24"/>
                </a:solidFill>
                <a:latin typeface="Calibri"/>
              </a:rPr>
              <a:t>List&lt;CollectionArea&gt;, Map&lt;String, Integer&gt; keep data type-safe</a:t>
            </a:r>
          </a:p>
        </p:txBody>
      </p:sp>
      <p:sp>
        <p:nvSpPr>
          <p:cNvPr id="15" name="Oval 14"/>
          <p:cNvSpPr/>
          <p:nvPr/>
        </p:nvSpPr>
        <p:spPr>
          <a:xfrm>
            <a:off x="548640" y="3867911"/>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_g.png"/>
          <p:cNvPicPr>
            <a:picLocks noChangeAspect="1"/>
          </p:cNvPicPr>
          <p:nvPr/>
        </p:nvPicPr>
        <p:blipFill>
          <a:blip r:embed="rId4"/>
          <a:stretch>
            <a:fillRect/>
          </a:stretch>
        </p:blipFill>
        <p:spPr>
          <a:xfrm>
            <a:off x="658368" y="3977639"/>
            <a:ext cx="237744" cy="237744"/>
          </a:xfrm>
          <a:prstGeom prst="rect">
            <a:avLst/>
          </a:prstGeom>
        </p:spPr>
      </p:pic>
      <p:sp>
        <p:nvSpPr>
          <p:cNvPr id="17" name="TextBox 16"/>
          <p:cNvSpPr txBox="1"/>
          <p:nvPr/>
        </p:nvSpPr>
        <p:spPr>
          <a:xfrm>
            <a:off x="1170432" y="3813048"/>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Lambdas and functional interfaces</a:t>
            </a:r>
          </a:p>
          <a:p>
            <a:pPr algn="l">
              <a:spcAft>
                <a:spcPts val="100"/>
              </a:spcAft>
            </a:pPr>
            <a:r>
              <a:rPr sz="1400" b="0" i="0">
                <a:solidFill>
                  <a:srgbClr val="1F2A24"/>
                </a:solidFill>
                <a:latin typeface="Calibri"/>
              </a:rPr>
              <a:t>Predicate checks overflow, Comparator sorts</a:t>
            </a:r>
          </a:p>
        </p:txBody>
      </p:sp>
      <p:sp>
        <p:nvSpPr>
          <p:cNvPr id="18" name="Oval 17"/>
          <p:cNvSpPr/>
          <p:nvPr/>
        </p:nvSpPr>
        <p:spPr>
          <a:xfrm>
            <a:off x="548640" y="4654296"/>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tream_g.png"/>
          <p:cNvPicPr>
            <a:picLocks noChangeAspect="1"/>
          </p:cNvPicPr>
          <p:nvPr/>
        </p:nvPicPr>
        <p:blipFill>
          <a:blip r:embed="rId5"/>
          <a:stretch>
            <a:fillRect/>
          </a:stretch>
        </p:blipFill>
        <p:spPr>
          <a:xfrm>
            <a:off x="658368" y="4764024"/>
            <a:ext cx="237744" cy="237744"/>
          </a:xfrm>
          <a:prstGeom prst="rect">
            <a:avLst/>
          </a:prstGeom>
        </p:spPr>
      </p:pic>
      <p:sp>
        <p:nvSpPr>
          <p:cNvPr id="20" name="TextBox 19"/>
          <p:cNvSpPr txBox="1"/>
          <p:nvPr/>
        </p:nvSpPr>
        <p:spPr>
          <a:xfrm>
            <a:off x="1170432" y="4599432"/>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Stream pipelines</a:t>
            </a:r>
          </a:p>
          <a:p>
            <a:pPr algn="l">
              <a:spcAft>
                <a:spcPts val="100"/>
              </a:spcAft>
            </a:pPr>
            <a:r>
              <a:rPr sz="1400" b="0" i="0">
                <a:solidFill>
                  <a:srgbClr val="1F2A24"/>
                </a:solidFill>
                <a:latin typeface="Calibri"/>
              </a:rPr>
              <a:t>filter, map, sorted, limit, collect, joining, forEach</a:t>
            </a:r>
          </a:p>
        </p:txBody>
      </p:sp>
      <p:sp>
        <p:nvSpPr>
          <p:cNvPr id="21" name="Oval 20"/>
          <p:cNvSpPr/>
          <p:nvPr/>
        </p:nvSpPr>
        <p:spPr>
          <a:xfrm>
            <a:off x="548640" y="5440680"/>
            <a:ext cx="457200" cy="45720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_g.png"/>
          <p:cNvPicPr>
            <a:picLocks noChangeAspect="1"/>
          </p:cNvPicPr>
          <p:nvPr/>
        </p:nvPicPr>
        <p:blipFill>
          <a:blip r:embed="rId6"/>
          <a:stretch>
            <a:fillRect/>
          </a:stretch>
        </p:blipFill>
        <p:spPr>
          <a:xfrm>
            <a:off x="658368" y="5550408"/>
            <a:ext cx="237744" cy="237744"/>
          </a:xfrm>
          <a:prstGeom prst="rect">
            <a:avLst/>
          </a:prstGeom>
        </p:spPr>
      </p:pic>
      <p:sp>
        <p:nvSpPr>
          <p:cNvPr id="23" name="TextBox 22"/>
          <p:cNvSpPr txBox="1"/>
          <p:nvPr/>
        </p:nvSpPr>
        <p:spPr>
          <a:xfrm>
            <a:off x="1170432" y="5385816"/>
            <a:ext cx="4818888" cy="740664"/>
          </a:xfrm>
          <a:prstGeom prst="rect">
            <a:avLst/>
          </a:prstGeom>
          <a:noFill/>
        </p:spPr>
        <p:txBody>
          <a:bodyPr wrap="square" anchor="t" lIns="0" rIns="0" tIns="0" bIns="0">
            <a:spAutoFit/>
          </a:bodyPr>
          <a:lstStyle/>
          <a:p>
            <a:pPr algn="l">
              <a:spcAft>
                <a:spcPts val="100"/>
              </a:spcAft>
            </a:pPr>
            <a:r>
              <a:rPr sz="1500" b="1" i="0">
                <a:solidFill>
                  <a:srgbClr val="124A28"/>
                </a:solidFill>
                <a:latin typeface="Calibri"/>
              </a:rPr>
              <a:t>Collectors and Optional</a:t>
            </a:r>
          </a:p>
          <a:p>
            <a:pPr algn="l">
              <a:spcAft>
                <a:spcPts val="100"/>
              </a:spcAft>
            </a:pPr>
            <a:r>
              <a:rPr sz="1400" b="0" i="0">
                <a:solidFill>
                  <a:srgbClr val="1F2A24"/>
                </a:solidFill>
                <a:latin typeface="Calibri"/>
              </a:rPr>
              <a:t>groupingBy by type, max() returns an Optional</a:t>
            </a:r>
          </a:p>
        </p:txBody>
      </p:sp>
      <p:sp>
        <p:nvSpPr>
          <p:cNvPr id="24" name="Rounded Rectangle 23"/>
          <p:cNvSpPr/>
          <p:nvPr/>
        </p:nvSpPr>
        <p:spPr>
          <a:xfrm>
            <a:off x="6263640" y="2240280"/>
            <a:ext cx="5376672" cy="3886200"/>
          </a:xfrm>
          <a:prstGeom prst="roundRect">
            <a:avLst>
              <a:gd name="adj" fmla="val 4000"/>
            </a:avLst>
          </a:prstGeom>
          <a:solidFill>
            <a:srgbClr val="0F1A14"/>
          </a:solidFill>
          <a:ln>
            <a:no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263640" y="2240280"/>
            <a:ext cx="5376672" cy="329184"/>
          </a:xfrm>
          <a:prstGeom prst="roundRect">
            <a:avLst>
              <a:gd name="adj" fmla="val 30000"/>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263640" y="2404872"/>
            <a:ext cx="5376672" cy="164592"/>
          </a:xfrm>
          <a:prstGeom prst="rect">
            <a:avLst/>
          </a:prstGeom>
          <a:solidFill>
            <a:srgbClr val="22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9944" y="2340864"/>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92824" y="2340864"/>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75704" y="2340864"/>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0879" y="2276856"/>
            <a:ext cx="4462272" cy="256032"/>
          </a:xfrm>
          <a:prstGeom prst="rect">
            <a:avLst/>
          </a:prstGeom>
          <a:noFill/>
        </p:spPr>
        <p:txBody>
          <a:bodyPr wrap="square" anchor="ctr" lIns="0" rIns="0" tIns="0" bIns="0">
            <a:spAutoFit/>
          </a:bodyPr>
          <a:lstStyle/>
          <a:p>
            <a:pPr algn="l">
              <a:spcAft>
                <a:spcPts val="400"/>
              </a:spcAft>
            </a:pPr>
            <a:r>
              <a:rPr sz="1100" b="0" i="0">
                <a:solidFill>
                  <a:srgbClr val="A9C2B4"/>
                </a:solidFill>
                <a:latin typeface="Consolas"/>
              </a:rPr>
              <a:t>CO6  |  smartInsights()</a:t>
            </a:r>
          </a:p>
        </p:txBody>
      </p:sp>
      <p:sp>
        <p:nvSpPr>
          <p:cNvPr id="31" name="TextBox 30"/>
          <p:cNvSpPr txBox="1"/>
          <p:nvPr/>
        </p:nvSpPr>
        <p:spPr>
          <a:xfrm>
            <a:off x="6464807" y="2697480"/>
            <a:ext cx="5010912" cy="3337560"/>
          </a:xfrm>
          <a:prstGeom prst="rect">
            <a:avLst/>
          </a:prstGeom>
          <a:noFill/>
        </p:spPr>
        <p:txBody>
          <a:bodyPr wrap="square" lIns="0" rIns="0" tIns="0" bIns="0">
            <a:spAutoFit/>
          </a:bodyPr>
          <a:lstStyle/>
          <a:p>
            <a:pPr>
              <a:lnSpc>
                <a:spcPct val="100000"/>
              </a:lnSpc>
            </a:pPr>
            <a:r>
              <a:rPr sz="1200">
                <a:solidFill>
                  <a:srgbClr val="E6EDE8"/>
                </a:solidFill>
                <a:latin typeface="Consolas"/>
              </a:rPr>
              <a:t>Predicate&lt;CollectionArea&gt; overflowedOnce =</a:t>
            </a:r>
          </a:p>
          <a:p>
            <a:pPr>
              <a:lnSpc>
                <a:spcPct val="100000"/>
              </a:lnSpc>
            </a:pPr>
            <a:r>
              <a:rPr sz="1200">
                <a:solidFill>
                  <a:srgbClr val="E6EDE8"/>
                </a:solidFill>
                <a:latin typeface="Consolas"/>
              </a:rPr>
              <a:t>    a -&gt; IntStream.range(0, 7)</a:t>
            </a:r>
          </a:p>
          <a:p>
            <a:pPr>
              <a:lnSpc>
                <a:spcPct val="100000"/>
              </a:lnSpc>
            </a:pPr>
            <a:r>
              <a:rPr sz="1200">
                <a:solidFill>
                  <a:srgbClr val="E6EDE8"/>
                </a:solidFill>
                <a:latin typeface="Consolas"/>
              </a:rPr>
              <a:t>          .anyMatch(d -&gt; a.fillPercent(d) &gt; 100);</a:t>
            </a:r>
          </a:p>
          <a:p>
            <a:pPr>
              <a:lnSpc>
                <a:spcPct val="100000"/>
              </a:lnSpc>
            </a:pPr>
            <a:r>
              <a:rPr sz="1200">
                <a:solidFill>
                  <a:srgbClr val="FFFFFF"/>
                </a:solidFill>
                <a:latin typeface="Consolas"/>
              </a:rPr>
              <a:t> </a:t>
            </a:r>
          </a:p>
          <a:p>
            <a:pPr>
              <a:lnSpc>
                <a:spcPct val="100000"/>
              </a:lnSpc>
            </a:pPr>
            <a:r>
              <a:rPr sz="1200">
                <a:solidFill>
                  <a:srgbClr val="E6EDE8"/>
                </a:solidFill>
                <a:latin typeface="Consolas"/>
              </a:rPr>
              <a:t>List&lt;</a:t>
            </a:r>
            <a:r>
              <a:rPr sz="1200">
                <a:solidFill>
                  <a:srgbClr val="7FD6A0"/>
                </a:solidFill>
                <a:latin typeface="Consolas"/>
              </a:rPr>
              <a:t>String</a:t>
            </a:r>
            <a:r>
              <a:rPr sz="1200">
                <a:solidFill>
                  <a:srgbClr val="E6EDE8"/>
                </a:solidFill>
                <a:latin typeface="Consolas"/>
              </a:rPr>
              <a:t>&gt; overflow = areas.stream()</a:t>
            </a:r>
          </a:p>
          <a:p>
            <a:pPr>
              <a:lnSpc>
                <a:spcPct val="100000"/>
              </a:lnSpc>
            </a:pPr>
            <a:r>
              <a:rPr sz="1200">
                <a:solidFill>
                  <a:srgbClr val="E6EDE8"/>
                </a:solidFill>
                <a:latin typeface="Consolas"/>
              </a:rPr>
              <a:t>    .filter(overflowedOnce)</a:t>
            </a:r>
          </a:p>
          <a:p>
            <a:pPr>
              <a:lnSpc>
                <a:spcPct val="100000"/>
              </a:lnSpc>
            </a:pPr>
            <a:r>
              <a:rPr sz="1200">
                <a:solidFill>
                  <a:srgbClr val="E6EDE8"/>
                </a:solidFill>
                <a:latin typeface="Consolas"/>
              </a:rPr>
              <a:t>    .map(CollectionArea::getName)</a:t>
            </a:r>
          </a:p>
          <a:p>
            <a:pPr>
              <a:lnSpc>
                <a:spcPct val="100000"/>
              </a:lnSpc>
            </a:pPr>
            <a:r>
              <a:rPr sz="1200">
                <a:solidFill>
                  <a:srgbClr val="E6EDE8"/>
                </a:solidFill>
                <a:latin typeface="Consolas"/>
              </a:rPr>
              <a:t>    .collect(Collectors.toList());</a:t>
            </a:r>
          </a:p>
          <a:p>
            <a:pPr>
              <a:lnSpc>
                <a:spcPct val="100000"/>
              </a:lnSpc>
            </a:pPr>
            <a:r>
              <a:rPr sz="1200">
                <a:solidFill>
                  <a:srgbClr val="FFFFFF"/>
                </a:solidFill>
                <a:latin typeface="Consolas"/>
              </a:rPr>
              <a:t> </a:t>
            </a:r>
          </a:p>
          <a:p>
            <a:pPr>
              <a:lnSpc>
                <a:spcPct val="100000"/>
              </a:lnSpc>
            </a:pPr>
            <a:r>
              <a:rPr sz="1200">
                <a:solidFill>
                  <a:srgbClr val="E6EDE8"/>
                </a:solidFill>
                <a:latin typeface="Consolas"/>
              </a:rPr>
              <a:t>Map&lt;</a:t>
            </a:r>
            <a:r>
              <a:rPr sz="1200">
                <a:solidFill>
                  <a:srgbClr val="7FD6A0"/>
                </a:solidFill>
                <a:latin typeface="Consolas"/>
              </a:rPr>
              <a:t>String</a:t>
            </a:r>
            <a:r>
              <a:rPr sz="1200">
                <a:solidFill>
                  <a:srgbClr val="E6EDE8"/>
                </a:solidFill>
                <a:latin typeface="Consolas"/>
              </a:rPr>
              <a:t>, Integer&gt; byType = areas.stream()</a:t>
            </a:r>
          </a:p>
          <a:p>
            <a:pPr>
              <a:lnSpc>
                <a:spcPct val="100000"/>
              </a:lnSpc>
            </a:pPr>
            <a:r>
              <a:rPr sz="1200">
                <a:solidFill>
                  <a:srgbClr val="E6EDE8"/>
                </a:solidFill>
                <a:latin typeface="Consolas"/>
              </a:rPr>
              <a:t>    .collect(Collectors.groupingBy(</a:t>
            </a:r>
          </a:p>
          <a:p>
            <a:pPr>
              <a:lnSpc>
                <a:spcPct val="100000"/>
              </a:lnSpc>
            </a:pPr>
            <a:r>
              <a:rPr sz="1200">
                <a:solidFill>
                  <a:srgbClr val="E6EDE8"/>
                </a:solidFill>
                <a:latin typeface="Consolas"/>
              </a:rPr>
              <a:t>        CollectionArea::getType,</a:t>
            </a:r>
          </a:p>
          <a:p>
            <a:pPr>
              <a:lnSpc>
                <a:spcPct val="100000"/>
              </a:lnSpc>
            </a:pPr>
            <a:r>
              <a:rPr sz="1200">
                <a:solidFill>
                  <a:srgbClr val="E6EDE8"/>
                </a:solidFill>
                <a:latin typeface="Consolas"/>
              </a:rPr>
              <a:t>        Collectors.summingInt(</a:t>
            </a:r>
          </a:p>
          <a:p>
            <a:pPr>
              <a:lnSpc>
                <a:spcPct val="100000"/>
              </a:lnSpc>
            </a:pPr>
            <a:r>
              <a:rPr sz="1200">
                <a:solidFill>
                  <a:srgbClr val="E6EDE8"/>
                </a:solidFill>
                <a:latin typeface="Consolas"/>
              </a:rPr>
              <a:t>            CollectionArea::getWeeklyTotal)));</a:t>
            </a:r>
          </a:p>
          <a:p>
            <a:pPr>
              <a:lnSpc>
                <a:spcPct val="100000"/>
              </a:lnSpc>
            </a:pPr>
            <a:r>
              <a:rPr sz="1200">
                <a:solidFill>
                  <a:srgbClr val="FFFFFF"/>
                </a:solidFill>
                <a:latin typeface="Consolas"/>
              </a:rPr>
              <a:t> </a:t>
            </a:r>
          </a:p>
          <a:p>
            <a:pPr>
              <a:lnSpc>
                <a:spcPct val="100000"/>
              </a:lnSpc>
            </a:pPr>
            <a:r>
              <a:rPr sz="1200">
                <a:solidFill>
                  <a:srgbClr val="E6EDE8"/>
                </a:solidFill>
                <a:latin typeface="Consolas"/>
              </a:rPr>
              <a:t>Optional&lt;CollectionArea&gt; top = areas.stream()</a:t>
            </a:r>
          </a:p>
          <a:p>
            <a:pPr>
              <a:lnSpc>
                <a:spcPct val="100000"/>
              </a:lnSpc>
            </a:pPr>
            <a:r>
              <a:rPr sz="1200">
                <a:solidFill>
                  <a:srgbClr val="E6EDE8"/>
                </a:solidFill>
                <a:latin typeface="Consolas"/>
              </a:rPr>
              <a:t>    .max(Comparator.comparingInt(</a:t>
            </a:r>
          </a:p>
          <a:p>
            <a:pPr>
              <a:lnSpc>
                <a:spcPct val="100000"/>
              </a:lnSpc>
            </a:pPr>
            <a:r>
              <a:rPr sz="1200">
                <a:solidFill>
                  <a:srgbClr val="E6EDE8"/>
                </a:solidFill>
                <a:latin typeface="Consolas"/>
              </a:rPr>
              <a:t>        CollectionArea::getWeeklyTotal));</a:t>
            </a:r>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Conclusion</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6" name="Rounded Rectangle 5"/>
          <p:cNvSpPr/>
          <p:nvPr/>
        </p:nvSpPr>
        <p:spPr>
          <a:xfrm>
            <a:off x="685800" y="1417320"/>
            <a:ext cx="5212080" cy="2103120"/>
          </a:xfrm>
          <a:prstGeom prst="roundRect">
            <a:avLst>
              <a:gd name="adj" fmla="val 10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0120" y="1709928"/>
            <a:ext cx="640080" cy="640080"/>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_w.png"/>
          <p:cNvPicPr>
            <a:picLocks noChangeAspect="1"/>
          </p:cNvPicPr>
          <p:nvPr/>
        </p:nvPicPr>
        <p:blipFill>
          <a:blip r:embed="rId2"/>
          <a:stretch>
            <a:fillRect/>
          </a:stretch>
        </p:blipFill>
        <p:spPr>
          <a:xfrm>
            <a:off x="1113739" y="1863547"/>
            <a:ext cx="332841" cy="332841"/>
          </a:xfrm>
          <a:prstGeom prst="rect">
            <a:avLst/>
          </a:prstGeom>
        </p:spPr>
      </p:pic>
      <p:sp>
        <p:nvSpPr>
          <p:cNvPr id="9" name="TextBox 8"/>
          <p:cNvSpPr txBox="1"/>
          <p:nvPr/>
        </p:nvSpPr>
        <p:spPr>
          <a:xfrm>
            <a:off x="1801368" y="1691640"/>
            <a:ext cx="3886200" cy="457200"/>
          </a:xfrm>
          <a:prstGeom prst="rect">
            <a:avLst/>
          </a:prstGeom>
          <a:noFill/>
        </p:spPr>
        <p:txBody>
          <a:bodyPr wrap="square" anchor="t" lIns="0" rIns="0" tIns="0" bIns="0">
            <a:spAutoFit/>
          </a:bodyPr>
          <a:lstStyle/>
          <a:p>
            <a:pPr algn="l">
              <a:spcAft>
                <a:spcPts val="400"/>
              </a:spcAft>
            </a:pPr>
            <a:r>
              <a:rPr sz="1900" b="1" i="0">
                <a:solidFill>
                  <a:srgbClr val="124A28"/>
                </a:solidFill>
                <a:latin typeface="Calibri"/>
              </a:rPr>
              <a:t>What we built</a:t>
            </a:r>
          </a:p>
        </p:txBody>
      </p:sp>
      <p:sp>
        <p:nvSpPr>
          <p:cNvPr id="10" name="TextBox 9"/>
          <p:cNvSpPr txBox="1"/>
          <p:nvPr/>
        </p:nvSpPr>
        <p:spPr>
          <a:xfrm>
            <a:off x="1801368" y="2194560"/>
            <a:ext cx="3886200" cy="1188720"/>
          </a:xfrm>
          <a:prstGeom prst="rect">
            <a:avLst/>
          </a:prstGeom>
          <a:noFill/>
        </p:spPr>
        <p:txBody>
          <a:bodyPr wrap="square" anchor="t" lIns="0" rIns="0" tIns="0" bIns="0">
            <a:spAutoFit/>
          </a:bodyPr>
          <a:lstStyle/>
          <a:p>
            <a:pPr algn="l">
              <a:spcAft>
                <a:spcPts val="400"/>
              </a:spcAft>
            </a:pPr>
            <a:r>
              <a:rPr sz="1600" b="0" i="0">
                <a:solidFill>
                  <a:srgbClr val="1F2A24"/>
                </a:solidFill>
                <a:latin typeface="Calibri"/>
              </a:rPr>
              <a:t>A menu-driven Java app that tracks waste for each area and day, finds full bins and plans trucks for the day.</a:t>
            </a:r>
          </a:p>
        </p:txBody>
      </p:sp>
      <p:sp>
        <p:nvSpPr>
          <p:cNvPr id="11" name="Rounded Rectangle 10"/>
          <p:cNvSpPr/>
          <p:nvPr/>
        </p:nvSpPr>
        <p:spPr>
          <a:xfrm>
            <a:off x="6172200" y="1417320"/>
            <a:ext cx="5212080" cy="2103120"/>
          </a:xfrm>
          <a:prstGeom prst="roundRect">
            <a:avLst>
              <a:gd name="adj" fmla="val 10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46520" y="1709928"/>
            <a:ext cx="640080" cy="640080"/>
          </a:xfrm>
          <a:prstGeom prst="ellipse">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ruck_w.png"/>
          <p:cNvPicPr>
            <a:picLocks noChangeAspect="1"/>
          </p:cNvPicPr>
          <p:nvPr/>
        </p:nvPicPr>
        <p:blipFill>
          <a:blip r:embed="rId3"/>
          <a:stretch>
            <a:fillRect/>
          </a:stretch>
        </p:blipFill>
        <p:spPr>
          <a:xfrm>
            <a:off x="6600139" y="1863547"/>
            <a:ext cx="332841" cy="332841"/>
          </a:xfrm>
          <a:prstGeom prst="rect">
            <a:avLst/>
          </a:prstGeom>
        </p:spPr>
      </p:pic>
      <p:sp>
        <p:nvSpPr>
          <p:cNvPr id="14" name="TextBox 13"/>
          <p:cNvSpPr txBox="1"/>
          <p:nvPr/>
        </p:nvSpPr>
        <p:spPr>
          <a:xfrm>
            <a:off x="7287768" y="1691640"/>
            <a:ext cx="3886200" cy="457200"/>
          </a:xfrm>
          <a:prstGeom prst="rect">
            <a:avLst/>
          </a:prstGeom>
          <a:noFill/>
        </p:spPr>
        <p:txBody>
          <a:bodyPr wrap="square" anchor="t" lIns="0" rIns="0" tIns="0" bIns="0">
            <a:spAutoFit/>
          </a:bodyPr>
          <a:lstStyle/>
          <a:p>
            <a:pPr algn="l">
              <a:spcAft>
                <a:spcPts val="400"/>
              </a:spcAft>
            </a:pPr>
            <a:r>
              <a:rPr sz="1900" b="1" i="0">
                <a:solidFill>
                  <a:srgbClr val="124A28"/>
                </a:solidFill>
                <a:latin typeface="Calibri"/>
              </a:rPr>
              <a:t>Result on sample data</a:t>
            </a:r>
          </a:p>
        </p:txBody>
      </p:sp>
      <p:sp>
        <p:nvSpPr>
          <p:cNvPr id="15" name="TextBox 14"/>
          <p:cNvSpPr txBox="1"/>
          <p:nvPr/>
        </p:nvSpPr>
        <p:spPr>
          <a:xfrm>
            <a:off x="7287768" y="2194560"/>
            <a:ext cx="3886200" cy="1188720"/>
          </a:xfrm>
          <a:prstGeom prst="rect">
            <a:avLst/>
          </a:prstGeom>
          <a:noFill/>
        </p:spPr>
        <p:txBody>
          <a:bodyPr wrap="square" anchor="t" lIns="0" rIns="0" tIns="0" bIns="0">
            <a:spAutoFit/>
          </a:bodyPr>
          <a:lstStyle/>
          <a:p>
            <a:pPr algn="l">
              <a:spcAft>
                <a:spcPts val="400"/>
              </a:spcAft>
            </a:pPr>
            <a:r>
              <a:rPr sz="1600" b="0" i="0">
                <a:solidFill>
                  <a:srgbClr val="1F2A24"/>
                </a:solidFill>
                <a:latin typeface="Calibri"/>
              </a:rPr>
              <a:t>Monday plan: 6 of 7 areas need pickup, 2,520 kg, 3 trucks. Sunday: 5 areas need urgent pickup.</a:t>
            </a:r>
          </a:p>
        </p:txBody>
      </p:sp>
      <p:sp>
        <p:nvSpPr>
          <p:cNvPr id="16" name="Rounded Rectangle 15"/>
          <p:cNvSpPr/>
          <p:nvPr/>
        </p:nvSpPr>
        <p:spPr>
          <a:xfrm>
            <a:off x="685800" y="3794760"/>
            <a:ext cx="5212080" cy="2103120"/>
          </a:xfrm>
          <a:prstGeom prst="roundRect">
            <a:avLst>
              <a:gd name="adj" fmla="val 10000"/>
            </a:avLst>
          </a:prstGeom>
          <a:solidFill>
            <a:srgbClr val="FFFFFF"/>
          </a:solidFill>
          <a:ln w="15875">
            <a:solidFill>
              <a:srgbClr val="C9D8CE"/>
            </a:solidFill>
          </a:ln>
          <a:effectLst>
            <a:outerShdw blurRad="76200" dist="19050" dir="5400000" algn="t" rotWithShape="0">
              <a:srgbClr val="1B6B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60120" y="4087368"/>
            <a:ext cx="640080" cy="640080"/>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_w.png"/>
          <p:cNvPicPr>
            <a:picLocks noChangeAspect="1"/>
          </p:cNvPicPr>
          <p:nvPr/>
        </p:nvPicPr>
        <p:blipFill>
          <a:blip r:embed="rId4"/>
          <a:stretch>
            <a:fillRect/>
          </a:stretch>
        </p:blipFill>
        <p:spPr>
          <a:xfrm>
            <a:off x="1113739" y="4240987"/>
            <a:ext cx="332841" cy="332841"/>
          </a:xfrm>
          <a:prstGeom prst="rect">
            <a:avLst/>
          </a:prstGeom>
        </p:spPr>
      </p:pic>
      <p:sp>
        <p:nvSpPr>
          <p:cNvPr id="19" name="TextBox 18"/>
          <p:cNvSpPr txBox="1"/>
          <p:nvPr/>
        </p:nvSpPr>
        <p:spPr>
          <a:xfrm>
            <a:off x="1801368" y="4069080"/>
            <a:ext cx="3886200" cy="457200"/>
          </a:xfrm>
          <a:prstGeom prst="rect">
            <a:avLst/>
          </a:prstGeom>
          <a:noFill/>
        </p:spPr>
        <p:txBody>
          <a:bodyPr wrap="square" anchor="t" lIns="0" rIns="0" tIns="0" bIns="0">
            <a:spAutoFit/>
          </a:bodyPr>
          <a:lstStyle/>
          <a:p>
            <a:pPr algn="l">
              <a:spcAft>
                <a:spcPts val="400"/>
              </a:spcAft>
            </a:pPr>
            <a:r>
              <a:rPr sz="1900" b="1" i="0">
                <a:solidFill>
                  <a:srgbClr val="124A28"/>
                </a:solidFill>
                <a:latin typeface="Calibri"/>
              </a:rPr>
              <a:t>What we learnt</a:t>
            </a:r>
          </a:p>
        </p:txBody>
      </p:sp>
      <p:sp>
        <p:nvSpPr>
          <p:cNvPr id="20" name="TextBox 19"/>
          <p:cNvSpPr txBox="1"/>
          <p:nvPr/>
        </p:nvSpPr>
        <p:spPr>
          <a:xfrm>
            <a:off x="1801368" y="4572000"/>
            <a:ext cx="3886200" cy="1188720"/>
          </a:xfrm>
          <a:prstGeom prst="rect">
            <a:avLst/>
          </a:prstGeom>
          <a:noFill/>
        </p:spPr>
        <p:txBody>
          <a:bodyPr wrap="square" anchor="t" lIns="0" rIns="0" tIns="0" bIns="0">
            <a:spAutoFit/>
          </a:bodyPr>
          <a:lstStyle/>
          <a:p>
            <a:pPr algn="l">
              <a:spcAft>
                <a:spcPts val="400"/>
              </a:spcAft>
            </a:pPr>
            <a:r>
              <a:rPr sz="1600" b="0" i="0">
                <a:solidFill>
                  <a:srgbClr val="1F2A24"/>
                </a:solidFill>
                <a:latin typeface="Calibri"/>
              </a:rPr>
              <a:t>Moving from arrays and methods to objects, files and streams made the code easier to extend and safer with bad input.</a:t>
            </a:r>
          </a:p>
        </p:txBody>
      </p:sp>
      <p:sp>
        <p:nvSpPr>
          <p:cNvPr id="21" name="Rounded Rectangle 20"/>
          <p:cNvSpPr/>
          <p:nvPr/>
        </p:nvSpPr>
        <p:spPr>
          <a:xfrm>
            <a:off x="6172200" y="3794760"/>
            <a:ext cx="5212080" cy="2103120"/>
          </a:xfrm>
          <a:prstGeom prst="roundRect">
            <a:avLst>
              <a:gd name="adj" fmla="val 10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46520" y="4087368"/>
            <a:ext cx="640080" cy="640080"/>
          </a:xfrm>
          <a:prstGeom prst="ellipse">
            <a:avLst/>
          </a:prstGeom>
          <a:solidFill>
            <a:srgbClr val="1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ap_w.png"/>
          <p:cNvPicPr>
            <a:picLocks noChangeAspect="1"/>
          </p:cNvPicPr>
          <p:nvPr/>
        </p:nvPicPr>
        <p:blipFill>
          <a:blip r:embed="rId5"/>
          <a:stretch>
            <a:fillRect/>
          </a:stretch>
        </p:blipFill>
        <p:spPr>
          <a:xfrm>
            <a:off x="6600139" y="4240987"/>
            <a:ext cx="332841" cy="332841"/>
          </a:xfrm>
          <a:prstGeom prst="rect">
            <a:avLst/>
          </a:prstGeom>
        </p:spPr>
      </p:pic>
      <p:sp>
        <p:nvSpPr>
          <p:cNvPr id="24" name="TextBox 23"/>
          <p:cNvSpPr txBox="1"/>
          <p:nvPr/>
        </p:nvSpPr>
        <p:spPr>
          <a:xfrm>
            <a:off x="7287768" y="4069080"/>
            <a:ext cx="3886200" cy="457200"/>
          </a:xfrm>
          <a:prstGeom prst="rect">
            <a:avLst/>
          </a:prstGeom>
          <a:noFill/>
        </p:spPr>
        <p:txBody>
          <a:bodyPr wrap="square" anchor="t" lIns="0" rIns="0" tIns="0" bIns="0">
            <a:spAutoFit/>
          </a:bodyPr>
          <a:lstStyle/>
          <a:p>
            <a:pPr algn="l">
              <a:spcAft>
                <a:spcPts val="400"/>
              </a:spcAft>
            </a:pPr>
            <a:r>
              <a:rPr sz="1900" b="1" i="0">
                <a:solidFill>
                  <a:srgbClr val="124A28"/>
                </a:solidFill>
                <a:latin typeface="Calibri"/>
              </a:rPr>
              <a:t>Future scope</a:t>
            </a:r>
          </a:p>
        </p:txBody>
      </p:sp>
      <p:sp>
        <p:nvSpPr>
          <p:cNvPr id="25" name="TextBox 24"/>
          <p:cNvSpPr txBox="1"/>
          <p:nvPr/>
        </p:nvSpPr>
        <p:spPr>
          <a:xfrm>
            <a:off x="7287768" y="4572000"/>
            <a:ext cx="3886200" cy="1188720"/>
          </a:xfrm>
          <a:prstGeom prst="rect">
            <a:avLst/>
          </a:prstGeom>
          <a:noFill/>
        </p:spPr>
        <p:txBody>
          <a:bodyPr wrap="square" anchor="t" lIns="0" rIns="0" tIns="0" bIns="0">
            <a:spAutoFit/>
          </a:bodyPr>
          <a:lstStyle/>
          <a:p>
            <a:pPr algn="l">
              <a:spcAft>
                <a:spcPts val="400"/>
              </a:spcAft>
            </a:pPr>
            <a:r>
              <a:rPr sz="1600" b="0" i="0">
                <a:solidFill>
                  <a:srgbClr val="1F2A24"/>
                </a:solidFill>
                <a:latin typeface="Calibri"/>
              </a:rPr>
              <a:t>GPS-based truck routes, a GUI or web dashboard, and storing data in a database.</a:t>
            </a:r>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a:xfrm>
            <a:off x="1508760" y="329184"/>
            <a:ext cx="10058400" cy="777240"/>
          </a:xfrm>
        </p:spPr>
        <p:txBody>
          <a:bodyPr anchor="ctr"/>
          <a:lstStyle/>
          <a:p>
            <a:r>
              <a:rPr lang="en-IN" sz="3400" b="1">
                <a:solidFill>
                  <a:srgbClr val="124A28"/>
                </a:solidFill>
                <a:latin typeface="Calibri"/>
              </a:rPr>
              <a:t>Screen Shots: Weekly Report</a:t>
            </a:r>
            <a:endParaRPr lang="en-IN" dirty="0"/>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6" name="Picture 5" descr="s_report.png"/>
          <p:cNvPicPr>
            <a:picLocks noChangeAspect="1"/>
          </p:cNvPicPr>
          <p:nvPr/>
        </p:nvPicPr>
        <p:blipFill>
          <a:blip r:embed="rId2"/>
          <a:stretch>
            <a:fillRect/>
          </a:stretch>
        </p:blipFill>
        <p:spPr>
          <a:xfrm>
            <a:off x="2368860" y="1325880"/>
            <a:ext cx="7469519" cy="4206240"/>
          </a:xfrm>
          <a:prstGeom prst="rect">
            <a:avLst/>
          </a:prstGeom>
          <a:effectLst>
            <a:outerShdw blurRad="76200" dist="19050" dir="5400000" algn="t" rotWithShape="0">
              <a:srgbClr val="1B6B3A">
                <a:alpha val="18000"/>
              </a:srgbClr>
            </a:outerShdw>
          </a:effectLst>
        </p:spPr>
      </p:pic>
      <p:sp>
        <p:nvSpPr>
          <p:cNvPr id="7" name="TextBox 6"/>
          <p:cNvSpPr txBox="1"/>
          <p:nvPr/>
        </p:nvSpPr>
        <p:spPr>
          <a:xfrm>
            <a:off x="685800" y="5715000"/>
            <a:ext cx="10835640" cy="320040"/>
          </a:xfrm>
          <a:prstGeom prst="rect">
            <a:avLst/>
          </a:prstGeom>
          <a:noFill/>
        </p:spPr>
        <p:txBody>
          <a:bodyPr wrap="square" anchor="t" lIns="0" rIns="0" tIns="0" bIns="0">
            <a:spAutoFit/>
          </a:bodyPr>
          <a:lstStyle/>
          <a:p>
            <a:pPr algn="ctr">
              <a:spcAft>
                <a:spcPts val="400"/>
              </a:spcAft>
            </a:pPr>
            <a:r>
              <a:rPr sz="1400" b="0" i="1">
                <a:solidFill>
                  <a:srgbClr val="5A6B61"/>
                </a:solidFill>
                <a:latin typeface="Calibri"/>
              </a:rPr>
              <a:t>Loaded from waste_data.csv; report uses the 2D array, recursion and each type's own cost per kg</a:t>
            </a:r>
          </a:p>
        </p:txBody>
      </p:sp>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a:xfrm>
            <a:off x="1508760" y="329184"/>
            <a:ext cx="10058400" cy="777240"/>
          </a:xfrm>
        </p:spPr>
        <p:txBody>
          <a:bodyPr anchor="ctr"/>
          <a:lstStyle/>
          <a:p>
            <a:r>
              <a:rPr lang="en-IN" sz="3400" b="1">
                <a:solidFill>
                  <a:srgbClr val="124A28"/>
                </a:solidFill>
                <a:latin typeface="Calibri"/>
              </a:rPr>
              <a:t>Screen Shots: Smart Insights</a:t>
            </a:r>
            <a:endParaRPr lang="en-IN" dirty="0"/>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6" name="Picture 5" descr="s_insights.png"/>
          <p:cNvPicPr>
            <a:picLocks noChangeAspect="1"/>
          </p:cNvPicPr>
          <p:nvPr/>
        </p:nvPicPr>
        <p:blipFill>
          <a:blip r:embed="rId2"/>
          <a:stretch>
            <a:fillRect/>
          </a:stretch>
        </p:blipFill>
        <p:spPr>
          <a:xfrm>
            <a:off x="1613240" y="1325880"/>
            <a:ext cx="8980759" cy="4206240"/>
          </a:xfrm>
          <a:prstGeom prst="rect">
            <a:avLst/>
          </a:prstGeom>
          <a:effectLst>
            <a:outerShdw blurRad="76200" dist="19050" dir="5400000" algn="t" rotWithShape="0">
              <a:srgbClr val="1B6B3A">
                <a:alpha val="18000"/>
              </a:srgbClr>
            </a:outerShdw>
          </a:effectLst>
        </p:spPr>
      </p:pic>
      <p:sp>
        <p:nvSpPr>
          <p:cNvPr id="7" name="TextBox 6"/>
          <p:cNvSpPr txBox="1"/>
          <p:nvPr/>
        </p:nvSpPr>
        <p:spPr>
          <a:xfrm>
            <a:off x="685800" y="5715000"/>
            <a:ext cx="10835640" cy="320040"/>
          </a:xfrm>
          <a:prstGeom prst="rect">
            <a:avLst/>
          </a:prstGeom>
          <a:noFill/>
        </p:spPr>
        <p:txBody>
          <a:bodyPr wrap="square" anchor="t" lIns="0" rIns="0" tIns="0" bIns="0">
            <a:spAutoFit/>
          </a:bodyPr>
          <a:lstStyle/>
          <a:p>
            <a:pPr algn="ctr">
              <a:spcAft>
                <a:spcPts val="400"/>
              </a:spcAft>
            </a:pPr>
            <a:r>
              <a:rPr sz="1400" b="0" i="1">
                <a:solidFill>
                  <a:srgbClr val="5A6B61"/>
                </a:solidFill>
                <a:latin typeface="Calibri"/>
              </a:rPr>
              <a:t>Option 10 uses streams, lambdas, Optional, groupingBy and a TreeSet</a:t>
            </a:r>
          </a:p>
        </p:txBody>
      </p:sp>
    </p:spTree>
    <p:extLst>
      <p:ext uri="{BB962C8B-B14F-4D97-AF65-F5344CB8AC3E}">
        <p14:creationId xmlns:p14="http://schemas.microsoft.com/office/powerpoint/2010/main" val="2015298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a:xfrm>
            <a:off x="1508760" y="329184"/>
            <a:ext cx="10058400" cy="777240"/>
          </a:xfrm>
        </p:spPr>
        <p:txBody>
          <a:bodyPr anchor="ctr"/>
          <a:lstStyle/>
          <a:p>
            <a:r>
              <a:rPr lang="en-IN" sz="3400" b="1">
                <a:solidFill>
                  <a:srgbClr val="124A28"/>
                </a:solidFill>
                <a:latin typeface="Calibri"/>
              </a:rPr>
              <a:t>Screen Shots: Bin Status and Validation</a:t>
            </a:r>
            <a:endParaRPr lang="en-IN" dirty="0"/>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6" name="Picture 5" descr="s_status.png"/>
          <p:cNvPicPr>
            <a:picLocks noChangeAspect="1"/>
          </p:cNvPicPr>
          <p:nvPr/>
        </p:nvPicPr>
        <p:blipFill>
          <a:blip r:embed="rId2"/>
          <a:stretch>
            <a:fillRect/>
          </a:stretch>
        </p:blipFill>
        <p:spPr>
          <a:xfrm>
            <a:off x="1261526" y="1325880"/>
            <a:ext cx="4014907" cy="4343400"/>
          </a:xfrm>
          <a:prstGeom prst="rect">
            <a:avLst/>
          </a:prstGeom>
          <a:effectLst>
            <a:outerShdw blurRad="76200" dist="19050" dir="5400000" algn="t" rotWithShape="0">
              <a:srgbClr val="1B6B3A">
                <a:alpha val="18000"/>
              </a:srgbClr>
            </a:outerShdw>
          </a:effectLst>
        </p:spPr>
      </p:pic>
      <p:sp>
        <p:nvSpPr>
          <p:cNvPr id="7" name="TextBox 6"/>
          <p:cNvSpPr txBox="1"/>
          <p:nvPr/>
        </p:nvSpPr>
        <p:spPr>
          <a:xfrm>
            <a:off x="548640" y="5760720"/>
            <a:ext cx="5440680" cy="320040"/>
          </a:xfrm>
          <a:prstGeom prst="rect">
            <a:avLst/>
          </a:prstGeom>
          <a:noFill/>
        </p:spPr>
        <p:txBody>
          <a:bodyPr wrap="square" anchor="t" lIns="0" rIns="0" tIns="0" bIns="0">
            <a:spAutoFit/>
          </a:bodyPr>
          <a:lstStyle/>
          <a:p>
            <a:pPr algn="ctr">
              <a:spcAft>
                <a:spcPts val="400"/>
              </a:spcAft>
            </a:pPr>
            <a:r>
              <a:rPr sz="1300" b="0" i="1">
                <a:solidFill>
                  <a:srgbClr val="5A6B61"/>
                </a:solidFill>
                <a:latin typeface="Calibri"/>
              </a:rPr>
              <a:t>Bin status for Sunday and collection plan for Monday</a:t>
            </a:r>
          </a:p>
        </p:txBody>
      </p:sp>
      <p:pic>
        <p:nvPicPr>
          <p:cNvPr id="8" name="Picture 7" descr="s_err.png"/>
          <p:cNvPicPr>
            <a:picLocks noChangeAspect="1"/>
          </p:cNvPicPr>
          <p:nvPr/>
        </p:nvPicPr>
        <p:blipFill>
          <a:blip r:embed="rId3"/>
          <a:stretch>
            <a:fillRect/>
          </a:stretch>
        </p:blipFill>
        <p:spPr>
          <a:xfrm>
            <a:off x="6573042" y="1325880"/>
            <a:ext cx="4730435" cy="4343400"/>
          </a:xfrm>
          <a:prstGeom prst="rect">
            <a:avLst/>
          </a:prstGeom>
          <a:effectLst>
            <a:outerShdw blurRad="76200" dist="19050" dir="5400000" algn="t" rotWithShape="0">
              <a:srgbClr val="1B6B3A">
                <a:alpha val="18000"/>
              </a:srgbClr>
            </a:outerShdw>
          </a:effectLst>
        </p:spPr>
      </p:pic>
      <p:sp>
        <p:nvSpPr>
          <p:cNvPr id="9" name="TextBox 8"/>
          <p:cNvSpPr txBox="1"/>
          <p:nvPr/>
        </p:nvSpPr>
        <p:spPr>
          <a:xfrm>
            <a:off x="6217920" y="5760720"/>
            <a:ext cx="5440680" cy="320040"/>
          </a:xfrm>
          <a:prstGeom prst="rect">
            <a:avLst/>
          </a:prstGeom>
          <a:noFill/>
        </p:spPr>
        <p:txBody>
          <a:bodyPr wrap="square" anchor="t" lIns="0" rIns="0" tIns="0" bIns="0">
            <a:spAutoFit/>
          </a:bodyPr>
          <a:lstStyle/>
          <a:p>
            <a:pPr algn="ctr">
              <a:spcAft>
                <a:spcPts val="400"/>
              </a:spcAft>
            </a:pPr>
            <a:r>
              <a:rPr sz="1300" b="0" i="1">
                <a:solidFill>
                  <a:srgbClr val="5A6B61"/>
                </a:solidFill>
                <a:latin typeface="Calibri"/>
              </a:rPr>
              <a:t>Bad CSV line, negative and non-numeric input handled</a:t>
            </a:r>
          </a:p>
        </p:txBody>
      </p:sp>
    </p:spTree>
    <p:extLst>
      <p:ext uri="{BB962C8B-B14F-4D97-AF65-F5344CB8AC3E}">
        <p14:creationId xmlns:p14="http://schemas.microsoft.com/office/powerpoint/2010/main" val="2015298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a:xfrm>
            <a:off x="1508760" y="329184"/>
            <a:ext cx="10058400" cy="777240"/>
          </a:xfrm>
        </p:spPr>
        <p:txBody>
          <a:bodyPr anchor="ctr"/>
          <a:lstStyle/>
          <a:p>
            <a:r>
              <a:rPr lang="en-IN" dirty="0" sz="3400" b="1">
                <a:solidFill>
                  <a:srgbClr val="124A28"/>
                </a:solidFill>
                <a:latin typeface="Calibri"/>
              </a:rPr>
              <a:t>Geo Tag Photo and GitHub Link</a:t>
            </a:r>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15-10-2026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12</a:t>
            </a:fld>
            <a:endParaRPr lang="en-IN"/>
          </a:p>
        </p:txBody>
      </p:sp>
      <p:sp>
        <p:nvSpPr>
          <p:cNvPr id="6" name="Rounded Rectangle 5"/>
          <p:cNvSpPr/>
          <p:nvPr/>
        </p:nvSpPr>
        <p:spPr>
          <a:xfrm>
            <a:off x="685800" y="1463040"/>
            <a:ext cx="5120640" cy="4343400"/>
          </a:xfrm>
          <a:prstGeom prst="roundRect">
            <a:avLst>
              <a:gd name="adj" fmla="val 8000"/>
            </a:avLst>
          </a:prstGeom>
          <a:solidFill>
            <a:srgbClr val="E9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0120" y="1737360"/>
            <a:ext cx="777240" cy="777240"/>
          </a:xfrm>
          <a:prstGeom prst="ellipse">
            <a:avLst/>
          </a:prstGeom>
          <a:solidFill>
            <a:srgbClr val="1F2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github_w.png"/>
          <p:cNvPicPr>
            <a:picLocks noChangeAspect="1"/>
          </p:cNvPicPr>
          <p:nvPr/>
        </p:nvPicPr>
        <p:blipFill>
          <a:blip r:embed="rId2"/>
          <a:stretch>
            <a:fillRect/>
          </a:stretch>
        </p:blipFill>
        <p:spPr>
          <a:xfrm>
            <a:off x="1146657" y="1923897"/>
            <a:ext cx="404164" cy="404164"/>
          </a:xfrm>
          <a:prstGeom prst="rect">
            <a:avLst/>
          </a:prstGeom>
        </p:spPr>
      </p:pic>
      <p:sp>
        <p:nvSpPr>
          <p:cNvPr id="9" name="TextBox 8"/>
          <p:cNvSpPr txBox="1"/>
          <p:nvPr/>
        </p:nvSpPr>
        <p:spPr>
          <a:xfrm>
            <a:off x="1920240" y="1783080"/>
            <a:ext cx="3657600" cy="685800"/>
          </a:xfrm>
          <a:prstGeom prst="rect">
            <a:avLst/>
          </a:prstGeom>
          <a:noFill/>
        </p:spPr>
        <p:txBody>
          <a:bodyPr wrap="square" anchor="ctr" lIns="0" rIns="0" tIns="0" bIns="0">
            <a:spAutoFit/>
          </a:bodyPr>
          <a:lstStyle/>
          <a:p>
            <a:pPr algn="l">
              <a:spcAft>
                <a:spcPts val="400"/>
              </a:spcAft>
            </a:pPr>
            <a:r>
              <a:rPr sz="2000" b="1" i="0">
                <a:solidFill>
                  <a:srgbClr val="124A28"/>
                </a:solidFill>
                <a:latin typeface="Calibri"/>
              </a:rPr>
              <a:t>GitHub repository</a:t>
            </a:r>
          </a:p>
        </p:txBody>
      </p:sp>
      <p:sp>
        <p:nvSpPr>
          <p:cNvPr id="10" name="TextBox 9"/>
          <p:cNvSpPr txBox="1"/>
          <p:nvPr/>
        </p:nvSpPr>
        <p:spPr>
          <a:xfrm>
            <a:off x="960120" y="2743200"/>
            <a:ext cx="4663440" cy="731520"/>
          </a:xfrm>
          <a:prstGeom prst="rect">
            <a:avLst/>
          </a:prstGeom>
          <a:noFill/>
        </p:spPr>
        <p:txBody>
          <a:bodyPr wrap="square" anchor="t" lIns="0" rIns="0" tIns="0" bIns="0">
            <a:spAutoFit/>
          </a:bodyPr>
          <a:lstStyle/>
          <a:p>
            <a:pPr algn="l">
              <a:spcAft>
                <a:spcPts val="400"/>
              </a:spcAft>
            </a:pPr>
            <a:r>
              <a:rPr sz="1400" b="1" i="0">
                <a:solidFill>
                  <a:srgbClr val="1B6B3A"/>
                </a:solidFill>
                <a:latin typeface="Consolas"/>
              </a:rPr>
              <a:t>github.com/eagabhavyansh-cloud/JavaPresentation</a:t>
            </a:r>
          </a:p>
        </p:txBody>
      </p:sp>
      <p:sp>
        <p:nvSpPr>
          <p:cNvPr id="11" name="TextBox 10"/>
          <p:cNvSpPr txBox="1"/>
          <p:nvPr/>
        </p:nvSpPr>
        <p:spPr>
          <a:xfrm>
            <a:off x="960120" y="3703320"/>
            <a:ext cx="4663440" cy="1920240"/>
          </a:xfrm>
          <a:prstGeom prst="rect">
            <a:avLst/>
          </a:prstGeom>
          <a:noFill/>
        </p:spPr>
        <p:txBody>
          <a:bodyPr wrap="square" anchor="t" lIns="0" rIns="0" tIns="0" bIns="0">
            <a:spAutoFit/>
          </a:bodyPr>
          <a:lstStyle/>
          <a:p>
            <a:pPr algn="l">
              <a:spcAft>
                <a:spcPts val="400"/>
              </a:spcAft>
            </a:pPr>
            <a:r>
              <a:rPr sz="1500" b="1" i="0">
                <a:solidFill>
                  <a:srgbClr val="1F2A24"/>
                </a:solidFill>
                <a:latin typeface="Calibri"/>
              </a:rPr>
              <a:t>Contains:</a:t>
            </a:r>
          </a:p>
          <a:p>
            <a:pPr algn="l">
              <a:spcAft>
                <a:spcPts val="400"/>
              </a:spcAft>
            </a:pPr>
            <a:r>
              <a:rPr sz="1500" b="0" i="0">
                <a:solidFill>
                  <a:srgbClr val="1F2A24"/>
                </a:solidFill>
                <a:latin typeface="Calibri"/>
              </a:rPr>
              <a:t>Abstract (PDF)</a:t>
            </a:r>
          </a:p>
          <a:p>
            <a:pPr algn="l">
              <a:spcAft>
                <a:spcPts val="400"/>
              </a:spcAft>
            </a:pPr>
            <a:r>
              <a:rPr sz="1500" b="0" i="0">
                <a:solidFill>
                  <a:srgbClr val="1F2A24"/>
                </a:solidFill>
                <a:latin typeface="Calibri"/>
              </a:rPr>
              <a:t>WasteCollectionOptimiser.java</a:t>
            </a:r>
          </a:p>
          <a:p>
            <a:pPr algn="l">
              <a:spcAft>
                <a:spcPts val="400"/>
              </a:spcAft>
            </a:pPr>
            <a:r>
              <a:rPr sz="1500" b="0" i="0">
                <a:solidFill>
                  <a:srgbClr val="1F2A24"/>
                </a:solidFill>
                <a:latin typeface="Calibri"/>
              </a:rPr>
              <a:t>waste_data.csv (sample data file)</a:t>
            </a:r>
          </a:p>
        </p:txBody>
      </p:sp>
      <p:sp>
        <p:nvSpPr>
          <p:cNvPr id="12" name="Rounded Rectangle 11"/>
          <p:cNvSpPr/>
          <p:nvPr/>
        </p:nvSpPr>
        <p:spPr>
          <a:xfrm>
            <a:off x="6172200" y="1463040"/>
            <a:ext cx="5349240" cy="4343400"/>
          </a:xfrm>
          <a:prstGeom prst="roundRect">
            <a:avLst>
              <a:gd name="adj" fmla="val 5000"/>
            </a:avLst>
          </a:prstGeom>
          <a:solidFill>
            <a:srgbClr val="FFFFFF"/>
          </a:solidFill>
          <a:ln w="15875">
            <a:solidFill>
              <a:srgbClr val="5A6B6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476488" y="2743200"/>
            <a:ext cx="731520" cy="731520"/>
          </a:xfrm>
          <a:prstGeom prst="ellipse">
            <a:avLst/>
          </a:prstGeom>
          <a:solidFill>
            <a:srgbClr val="D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_g.png"/>
          <p:cNvPicPr>
            <a:picLocks noChangeAspect="1"/>
          </p:cNvPicPr>
          <p:nvPr/>
        </p:nvPicPr>
        <p:blipFill>
          <a:blip r:embed="rId3"/>
          <a:stretch>
            <a:fillRect/>
          </a:stretch>
        </p:blipFill>
        <p:spPr>
          <a:xfrm>
            <a:off x="8652052" y="2918764"/>
            <a:ext cx="380390" cy="380390"/>
          </a:xfrm>
          <a:prstGeom prst="rect">
            <a:avLst/>
          </a:prstGeom>
        </p:spPr>
      </p:pic>
      <p:sp>
        <p:nvSpPr>
          <p:cNvPr id="15" name="TextBox 14"/>
          <p:cNvSpPr txBox="1"/>
          <p:nvPr/>
        </p:nvSpPr>
        <p:spPr>
          <a:xfrm>
            <a:off x="6355080" y="3657600"/>
            <a:ext cx="4983480" cy="822960"/>
          </a:xfrm>
          <a:prstGeom prst="rect">
            <a:avLst/>
          </a:prstGeom>
          <a:noFill/>
        </p:spPr>
        <p:txBody>
          <a:bodyPr wrap="square" anchor="t" lIns="0" rIns="0" tIns="0" bIns="0">
            <a:spAutoFit/>
          </a:bodyPr>
          <a:lstStyle/>
          <a:p>
            <a:pPr algn="ctr">
              <a:spcAft>
                <a:spcPts val="200"/>
              </a:spcAft>
            </a:pPr>
            <a:r>
              <a:rPr sz="1500" b="0" i="0">
                <a:solidFill>
                  <a:srgbClr val="5A6B61"/>
                </a:solidFill>
                <a:latin typeface="Calibri"/>
              </a:rPr>
              <a:t>Paste geo-tagged photo here</a:t>
            </a:r>
          </a:p>
          <a:p>
            <a:pPr algn="ctr">
              <a:spcAft>
                <a:spcPts val="200"/>
              </a:spcAft>
            </a:pPr>
            <a:r>
              <a:rPr sz="1500" b="0" i="0">
                <a:solidFill>
                  <a:srgbClr val="5A6B61"/>
                </a:solidFill>
                <a:latin typeface="Calibri"/>
              </a:rPr>
              <a:t>taken during the review</a:t>
            </a:r>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75</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Title of the Project Team No</vt:lpstr>
      <vt:lpstr>Abstract</vt:lpstr>
      <vt:lpstr>Understanding Problem Statement</vt:lpstr>
      <vt:lpstr>CO 1 Topics</vt:lpstr>
      <vt:lpstr>Co 2 TOPICS</vt:lpstr>
      <vt:lpstr>CO 3 Topics</vt:lpstr>
      <vt:lpstr>CO 4</vt:lpstr>
      <vt:lpstr>CO 5</vt:lpstr>
      <vt:lpstr>CO 6</vt:lpstr>
      <vt:lpstr>Conclusion</vt:lpstr>
      <vt:lpstr>Screen 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TSP MADHURI</cp:lastModifiedBy>
  <cp:revision>2</cp:revision>
  <dcterms:created xsi:type="dcterms:W3CDTF">2026-09-15T09:57:10Z</dcterms:created>
  <dcterms:modified xsi:type="dcterms:W3CDTF">2026-10-15T08:03:08Z</dcterms:modified>
</cp:coreProperties>
</file>